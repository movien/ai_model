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0" r:id="rId4"/>
    <p:sldId id="299" r:id="rId5"/>
    <p:sldId id="261" r:id="rId6"/>
    <p:sldId id="303" r:id="rId7"/>
    <p:sldId id="262" r:id="rId8"/>
    <p:sldId id="263" r:id="rId9"/>
    <p:sldId id="286" r:id="rId10"/>
    <p:sldId id="287" r:id="rId11"/>
    <p:sldId id="264" r:id="rId12"/>
    <p:sldId id="265" r:id="rId13"/>
    <p:sldId id="317" r:id="rId14"/>
    <p:sldId id="258" r:id="rId15"/>
    <p:sldId id="259" r:id="rId16"/>
    <p:sldId id="260" r:id="rId17"/>
    <p:sldId id="318" r:id="rId18"/>
    <p:sldId id="319" r:id="rId19"/>
    <p:sldId id="320" r:id="rId20"/>
    <p:sldId id="301" r:id="rId21"/>
    <p:sldId id="302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66" r:id="rId47"/>
    <p:sldId id="267" r:id="rId48"/>
    <p:sldId id="268" r:id="rId49"/>
    <p:sldId id="269" r:id="rId50"/>
    <p:sldId id="270" r:id="rId51"/>
    <p:sldId id="271" r:id="rId52"/>
    <p:sldId id="272" r:id="rId53"/>
    <p:sldId id="273" r:id="rId54"/>
    <p:sldId id="274" r:id="rId55"/>
    <p:sldId id="278" r:id="rId56"/>
    <p:sldId id="275" r:id="rId57"/>
    <p:sldId id="276" r:id="rId58"/>
    <p:sldId id="277" r:id="rId59"/>
    <p:sldId id="279" r:id="rId60"/>
    <p:sldId id="280" r:id="rId61"/>
    <p:sldId id="281" r:id="rId62"/>
    <p:sldId id="282" r:id="rId63"/>
    <p:sldId id="283" r:id="rId64"/>
    <p:sldId id="284" r:id="rId65"/>
    <p:sldId id="285" r:id="rId6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2" y="17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2920" y="105156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2920" y="260604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02920" y="416052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02920" y="562356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240280" y="178308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240280" y="333756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40280" y="489204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977640" y="132588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977640" y="306324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977640" y="470916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977640" y="608076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532120" y="214884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532120" y="3977640"/>
            <a:ext cx="274320" cy="274320"/>
          </a:xfrm>
          <a:prstGeom prst="ellipse">
            <a:avLst/>
          </a:prstGeom>
          <a:solidFill>
            <a:srgbClr val="101F3D"/>
          </a:solidFill>
          <a:ln w="63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640080" y="1188720"/>
            <a:ext cx="1737360" cy="7315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0080" y="1188720"/>
            <a:ext cx="1737360" cy="22860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40080" y="1920240"/>
            <a:ext cx="1737360" cy="8229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40080" y="2743200"/>
            <a:ext cx="1737360" cy="7315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40080" y="2743200"/>
            <a:ext cx="1737360" cy="22860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0080" y="3474720"/>
            <a:ext cx="1737360" cy="8229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0080" y="4297680"/>
            <a:ext cx="1737360" cy="7315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40080" y="5029200"/>
            <a:ext cx="1737360" cy="7315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377440" y="1463040"/>
            <a:ext cx="1737360" cy="4572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377440" y="1920240"/>
            <a:ext cx="1737360" cy="12801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77440" y="3200400"/>
            <a:ext cx="1737360" cy="2743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377440" y="3474720"/>
            <a:ext cx="1737360" cy="13716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377440" y="4846320"/>
            <a:ext cx="1737360" cy="1828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377440" y="5029200"/>
            <a:ext cx="1737360" cy="11887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114800" y="1463040"/>
            <a:ext cx="1554480" cy="8229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114800" y="2286000"/>
            <a:ext cx="1554480" cy="9144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114800" y="3200400"/>
            <a:ext cx="1554480" cy="9144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114800" y="4114800"/>
            <a:ext cx="1554480" cy="7315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114800" y="4114800"/>
            <a:ext cx="1554480" cy="21031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217920" y="1097280"/>
            <a:ext cx="5669280" cy="466344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217920" y="1097280"/>
            <a:ext cx="146304" cy="466344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37960" y="13716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8F0FA"/>
                </a:solidFill>
              </a:rPr>
              <a:t>HOW DEEP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21488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FF"/>
                </a:solidFill>
              </a:rPr>
              <a:t>NEURAL NETWORKS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2743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8F0FA"/>
                </a:solidFill>
              </a:rPr>
              <a:t>WORK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60" y="3493008"/>
            <a:ext cx="5029200" cy="2743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3796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7096"/>
                </a:solidFill>
              </a:rPr>
              <a:t>Step-by-step visual diagrams  |  Minimal text  |  Neon tech theme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60" y="4133087"/>
            <a:ext cx="1170432" cy="329184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537960" y="4133087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Neurons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99832" y="4133087"/>
            <a:ext cx="1170432" cy="329184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799832" y="4133087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Tensors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61704" y="4133087"/>
            <a:ext cx="1170432" cy="329184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061704" y="4133087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Training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23576" y="4133087"/>
            <a:ext cx="1170432" cy="329184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323576" y="4133087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Transformers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60" y="5349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7096"/>
                </a:solidFill>
              </a:rPr>
              <a:t>20 slides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What is Deep Learning?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87096"/>
                </a:solidFill>
              </a:rPr>
              <a:t>AI that learns layered representations — raw data in, understanding out.</a:t>
            </a:r>
          </a:p>
        </p:txBody>
      </p:sp>
      <p:sp>
        <p:nvSpPr>
          <p:cNvPr id="40" name="Oval 39"/>
          <p:cNvSpPr/>
          <p:nvPr/>
        </p:nvSpPr>
        <p:spPr>
          <a:xfrm>
            <a:off x="1097280" y="1737360"/>
            <a:ext cx="4754880" cy="4754880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737360" y="2377440"/>
            <a:ext cx="3474720" cy="3474720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377440" y="3017520"/>
            <a:ext cx="2194560" cy="2194560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" y="17830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0FF"/>
                </a:solidFill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2788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A0"/>
                </a:solidFill>
              </a:rPr>
              <a:t>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3822191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85CFF"/>
                </a:solidFill>
              </a:rPr>
              <a:t>DL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035040" y="1371600"/>
            <a:ext cx="320040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35040" y="1371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8836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0FF"/>
                </a:solidFill>
              </a:rPr>
              <a:t>ARTIFICIAL
INTELLIGENCE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3056" y="2523744"/>
            <a:ext cx="294436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Broad field: any machine
that mimics human
cognition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00032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400032" y="1371600"/>
            <a:ext cx="320040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00032" y="1371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18836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A0"/>
                </a:solidFill>
              </a:rPr>
              <a:t>MACHINE
LEARNING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2523744"/>
            <a:ext cx="294436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Subset: learns from data
without explicit
programming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17536" y="379476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717536" y="3794760"/>
            <a:ext cx="3200400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17536" y="37947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17536" y="430682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85CFF"/>
                </a:solidFill>
              </a:rPr>
              <a:t>DEEP
LEARNING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45552" y="4946904"/>
            <a:ext cx="294436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Subset of ML: uses
multi-layer neural nets
to learn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Biological Inspiration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Artificial neurons are simplified models of how brain cells communicate.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BIOLOGICAL NEURON</a:t>
            </a:r>
          </a:p>
        </p:txBody>
      </p:sp>
      <p:sp>
        <p:nvSpPr>
          <p:cNvPr id="41" name="Oval 40"/>
          <p:cNvSpPr/>
          <p:nvPr/>
        </p:nvSpPr>
        <p:spPr>
          <a:xfrm>
            <a:off x="2286000" y="2834640"/>
            <a:ext cx="1280160" cy="1280160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86000" y="321868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Cell
Body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1520" y="2560320"/>
            <a:ext cx="1554480" cy="914400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21792" y="2450592"/>
            <a:ext cx="219456" cy="219456"/>
          </a:xfrm>
          <a:prstGeom prst="ellipse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731520" y="3200400"/>
            <a:ext cx="1554480" cy="274320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21792" y="3090672"/>
            <a:ext cx="219456" cy="219456"/>
          </a:xfrm>
          <a:prstGeom prst="ellipse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7" name="Connector 46"/>
          <p:cNvCxnSpPr/>
          <p:nvPr/>
        </p:nvCxnSpPr>
        <p:spPr>
          <a:xfrm flipV="1">
            <a:off x="731520" y="3474720"/>
            <a:ext cx="1554480" cy="365760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21792" y="3730752"/>
            <a:ext cx="219456" cy="219456"/>
          </a:xfrm>
          <a:prstGeom prst="ellipse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9" name="Connector 48"/>
          <p:cNvCxnSpPr/>
          <p:nvPr/>
        </p:nvCxnSpPr>
        <p:spPr>
          <a:xfrm flipV="1">
            <a:off x="731520" y="3474720"/>
            <a:ext cx="1554480" cy="1005840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1792" y="4370832"/>
            <a:ext cx="219456" cy="219456"/>
          </a:xfrm>
          <a:prstGeom prst="ellipse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74320" y="4754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Dendrites
(Inputs)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566160" y="3474720"/>
            <a:ext cx="1737360" cy="0"/>
          </a:xfrm>
          <a:prstGeom prst="line">
            <a:avLst/>
          </a:prstGeom>
          <a:ln w="254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5193792" y="3090672"/>
            <a:ext cx="219456" cy="219456"/>
          </a:xfrm>
          <a:prstGeom prst="ellipse">
            <a:avLst/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5193792" y="3364992"/>
            <a:ext cx="219456" cy="219456"/>
          </a:xfrm>
          <a:prstGeom prst="ellipse">
            <a:avLst/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193792" y="3639311"/>
            <a:ext cx="219456" cy="219456"/>
          </a:xfrm>
          <a:prstGeom prst="ellipse">
            <a:avLst/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20624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Axon
(Output)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Synapses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ARTIFICIAL NEURON</a:t>
            </a:r>
          </a:p>
        </p:txBody>
      </p:sp>
      <p:sp>
        <p:nvSpPr>
          <p:cNvPr id="59" name="Oval 58"/>
          <p:cNvSpPr/>
          <p:nvPr/>
        </p:nvSpPr>
        <p:spPr>
          <a:xfrm>
            <a:off x="6931152" y="235915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931152" y="239572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15200" y="2560320"/>
            <a:ext cx="1645920" cy="91440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863840" y="2240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</a:t>
            </a:r>
          </a:p>
        </p:txBody>
      </p:sp>
      <p:sp>
        <p:nvSpPr>
          <p:cNvPr id="63" name="Oval 62"/>
          <p:cNvSpPr/>
          <p:nvPr/>
        </p:nvSpPr>
        <p:spPr>
          <a:xfrm>
            <a:off x="6931152" y="327355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31152" y="331012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315200" y="3474720"/>
            <a:ext cx="164592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863840" y="3017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w2</a:t>
            </a:r>
          </a:p>
        </p:txBody>
      </p:sp>
      <p:sp>
        <p:nvSpPr>
          <p:cNvPr id="67" name="Oval 66"/>
          <p:cNvSpPr/>
          <p:nvPr/>
        </p:nvSpPr>
        <p:spPr>
          <a:xfrm>
            <a:off x="6931152" y="418795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31152" y="422452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x3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7315200" y="3474720"/>
            <a:ext cx="1645920" cy="91440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863840" y="379476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w3</a:t>
            </a:r>
          </a:p>
        </p:txBody>
      </p:sp>
      <p:sp>
        <p:nvSpPr>
          <p:cNvPr id="71" name="Oval 70"/>
          <p:cNvSpPr/>
          <p:nvPr/>
        </p:nvSpPr>
        <p:spPr>
          <a:xfrm>
            <a:off x="8823960" y="3063240"/>
            <a:ext cx="822960" cy="82296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82396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646920" y="3474720"/>
            <a:ext cx="777240" cy="0"/>
          </a:xfrm>
          <a:prstGeom prst="line">
            <a:avLst/>
          </a:prstGeom>
          <a:ln w="254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10424160" y="3154680"/>
            <a:ext cx="1005840" cy="64008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424160" y="31546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f(x)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1430000" y="3474720"/>
            <a:ext cx="365760" cy="0"/>
          </a:xfrm>
          <a:prstGeom prst="line">
            <a:avLst/>
          </a:prstGeom>
          <a:ln w="254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143000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5212080"/>
            <a:ext cx="5303520" cy="1097280"/>
          </a:xfrm>
          <a:prstGeom prst="roundRect">
            <a:avLst>
              <a:gd name="adj" fmla="val 3000"/>
            </a:avLst>
          </a:prstGeom>
          <a:solidFill>
            <a:srgbClr val="002422"/>
          </a:solidFill>
          <a:ln w="19050">
            <a:solidFill>
              <a:srgbClr val="00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365760" y="5212080"/>
            <a:ext cx="109728" cy="1097280"/>
          </a:xfrm>
          <a:prstGeom prst="rect">
            <a:avLst/>
          </a:prstGeom>
          <a:solidFill>
            <a:srgbClr val="00E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21792" y="532180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8C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Parallel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" y="56875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Dendrites -&gt; Inputs  |  Synaptic strength -&gt; Weights
Cell body -&gt; Summation  |  Axon firing -&gt; Activation function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35040" y="5212080"/>
            <a:ext cx="5760720" cy="109728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035040" y="5212080"/>
            <a:ext cx="109728" cy="10972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91072" y="53218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Formula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91072" y="568756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 = f( w1*x1 + w2*x2 + w3*x3 + bias )
where f is the activation function and w's are learned weights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Neural Network?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computing system inspired by the brain that learns patterns from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645920"/>
            <a:ext cx="5120640" cy="118872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645920"/>
            <a:ext cx="109728" cy="118872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7556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212140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neural network is a series of connected nodes (neurons)
organized in layers. Data flows through these layers,
and the network learns by adjusting connection strengths.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017520"/>
            <a:ext cx="5120640" cy="118872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5760" y="3017520"/>
            <a:ext cx="109728" cy="118872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1792" y="31272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Idea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349300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Instead of writing explicit rules, we show the network
thousands of examples and let it discover the patterns
on its own. This is called 'learning from data'.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4389120"/>
            <a:ext cx="5120640" cy="118872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65760" y="4389120"/>
            <a:ext cx="109728" cy="118872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1792" y="44988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It Matters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486460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Neural networks power image recognition, language translation,
self-driving cars, medical diagnosis, and much more.
They are the foundation of modern AI.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NEURAL NETWORK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58000" y="2377440"/>
            <a:ext cx="1920240" cy="27432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858000" y="2377440"/>
            <a:ext cx="1920240" cy="100584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858000" y="2377440"/>
            <a:ext cx="1920240" cy="173736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858000" y="2651760"/>
            <a:ext cx="1920240" cy="54864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858000" y="3200400"/>
            <a:ext cx="1920240" cy="18288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58000" y="3200400"/>
            <a:ext cx="1920240" cy="91440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858000" y="2651760"/>
            <a:ext cx="1920240" cy="137160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858000" y="3383280"/>
            <a:ext cx="1920240" cy="64008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4023360"/>
            <a:ext cx="1920240" cy="9144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858000" y="2651760"/>
            <a:ext cx="1920240" cy="219456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858000" y="3383280"/>
            <a:ext cx="1920240" cy="146304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858000" y="4114800"/>
            <a:ext cx="1920240" cy="73152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778240" y="2651760"/>
            <a:ext cx="1828800" cy="27432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778240" y="2651760"/>
            <a:ext cx="1828800" cy="118872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778240" y="2926080"/>
            <a:ext cx="1828800" cy="45720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778240" y="3383280"/>
            <a:ext cx="1828800" cy="45720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778240" y="2926080"/>
            <a:ext cx="1828800" cy="118872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778240" y="3840480"/>
            <a:ext cx="1828800" cy="274320"/>
          </a:xfrm>
          <a:prstGeom prst="line">
            <a:avLst/>
          </a:prstGeom>
          <a:ln w="1016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6656832" y="217627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656832" y="221284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</a:t>
            </a:r>
          </a:p>
        </p:txBody>
      </p:sp>
      <p:sp>
        <p:nvSpPr>
          <p:cNvPr id="73" name="Oval 72"/>
          <p:cNvSpPr/>
          <p:nvPr/>
        </p:nvSpPr>
        <p:spPr>
          <a:xfrm>
            <a:off x="6656832" y="299923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656832" y="303580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</a:t>
            </a:r>
          </a:p>
        </p:txBody>
      </p:sp>
      <p:sp>
        <p:nvSpPr>
          <p:cNvPr id="75" name="Oval 74"/>
          <p:cNvSpPr/>
          <p:nvPr/>
        </p:nvSpPr>
        <p:spPr>
          <a:xfrm>
            <a:off x="6656832" y="382219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56832" y="385876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x3</a:t>
            </a:r>
          </a:p>
        </p:txBody>
      </p:sp>
      <p:sp>
        <p:nvSpPr>
          <p:cNvPr id="77" name="Oval 76"/>
          <p:cNvSpPr/>
          <p:nvPr/>
        </p:nvSpPr>
        <p:spPr>
          <a:xfrm>
            <a:off x="6656832" y="464515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656832" y="468172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x4</a:t>
            </a:r>
          </a:p>
        </p:txBody>
      </p:sp>
      <p:sp>
        <p:nvSpPr>
          <p:cNvPr id="79" name="Oval 78"/>
          <p:cNvSpPr/>
          <p:nvPr/>
        </p:nvSpPr>
        <p:spPr>
          <a:xfrm>
            <a:off x="8577072" y="245059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577072" y="248716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h1</a:t>
            </a:r>
          </a:p>
        </p:txBody>
      </p:sp>
      <p:sp>
        <p:nvSpPr>
          <p:cNvPr id="81" name="Oval 80"/>
          <p:cNvSpPr/>
          <p:nvPr/>
        </p:nvSpPr>
        <p:spPr>
          <a:xfrm>
            <a:off x="8577072" y="318211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577072" y="321868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h2</a:t>
            </a:r>
          </a:p>
        </p:txBody>
      </p:sp>
      <p:sp>
        <p:nvSpPr>
          <p:cNvPr id="83" name="Oval 82"/>
          <p:cNvSpPr/>
          <p:nvPr/>
        </p:nvSpPr>
        <p:spPr>
          <a:xfrm>
            <a:off x="8577072" y="391363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577072" y="395020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h3</a:t>
            </a:r>
          </a:p>
        </p:txBody>
      </p:sp>
      <p:sp>
        <p:nvSpPr>
          <p:cNvPr id="85" name="Oval 84"/>
          <p:cNvSpPr/>
          <p:nvPr/>
        </p:nvSpPr>
        <p:spPr>
          <a:xfrm>
            <a:off x="10405872" y="272491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405872" y="276148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y1</a:t>
            </a:r>
          </a:p>
        </p:txBody>
      </p:sp>
      <p:sp>
        <p:nvSpPr>
          <p:cNvPr id="87" name="Oval 86"/>
          <p:cNvSpPr/>
          <p:nvPr/>
        </p:nvSpPr>
        <p:spPr>
          <a:xfrm>
            <a:off x="10405872" y="3639312"/>
            <a:ext cx="402336" cy="40233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405872" y="367588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0" y="5212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
Layer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21040" y="5212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
Layer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49840" y="5212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
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Building a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" y="9555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layer = multiple neurons side by side — each receives ALL inputs and produces one output.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
ONE NEURON</a:t>
            </a:r>
          </a:p>
        </p:txBody>
      </p:sp>
      <p:sp>
        <p:nvSpPr>
          <p:cNvPr id="43" name="Oval 42"/>
          <p:cNvSpPr/>
          <p:nvPr/>
        </p:nvSpPr>
        <p:spPr>
          <a:xfrm>
            <a:off x="484632" y="2039112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2880" y="21031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</a:t>
            </a:r>
          </a:p>
        </p:txBody>
      </p:sp>
      <p:sp>
        <p:nvSpPr>
          <p:cNvPr id="45" name="Oval 44"/>
          <p:cNvSpPr/>
          <p:nvPr/>
        </p:nvSpPr>
        <p:spPr>
          <a:xfrm>
            <a:off x="484632" y="2788920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82880" y="28529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</a:t>
            </a:r>
          </a:p>
        </p:txBody>
      </p:sp>
      <p:sp>
        <p:nvSpPr>
          <p:cNvPr id="47" name="Oval 46"/>
          <p:cNvSpPr/>
          <p:nvPr/>
        </p:nvSpPr>
        <p:spPr>
          <a:xfrm>
            <a:off x="484632" y="3538728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2880" y="360273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x3</a:t>
            </a:r>
          </a:p>
        </p:txBody>
      </p:sp>
      <p:sp>
        <p:nvSpPr>
          <p:cNvPr id="49" name="Oval 48"/>
          <p:cNvSpPr/>
          <p:nvPr/>
        </p:nvSpPr>
        <p:spPr>
          <a:xfrm>
            <a:off x="3182112" y="2788920"/>
            <a:ext cx="402336" cy="402336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886968" y="224028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86968" y="2990088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86968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48056" y="4709160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neuron receives
all inputs, produces
one scalar output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58768" y="28346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78224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
MULTIPLE NEURONS</a:t>
            </a:r>
          </a:p>
        </p:txBody>
      </p:sp>
      <p:sp>
        <p:nvSpPr>
          <p:cNvPr id="58" name="Oval 57"/>
          <p:cNvSpPr/>
          <p:nvPr/>
        </p:nvSpPr>
        <p:spPr>
          <a:xfrm>
            <a:off x="4242816" y="2039112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941064" y="21031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</a:t>
            </a:r>
          </a:p>
        </p:txBody>
      </p:sp>
      <p:sp>
        <p:nvSpPr>
          <p:cNvPr id="60" name="Oval 59"/>
          <p:cNvSpPr/>
          <p:nvPr/>
        </p:nvSpPr>
        <p:spPr>
          <a:xfrm>
            <a:off x="4242816" y="2788920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941064" y="28529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</a:t>
            </a:r>
          </a:p>
        </p:txBody>
      </p:sp>
      <p:sp>
        <p:nvSpPr>
          <p:cNvPr id="62" name="Oval 61"/>
          <p:cNvSpPr/>
          <p:nvPr/>
        </p:nvSpPr>
        <p:spPr>
          <a:xfrm>
            <a:off x="4242816" y="3538728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41064" y="360273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x3</a:t>
            </a:r>
          </a:p>
        </p:txBody>
      </p:sp>
      <p:sp>
        <p:nvSpPr>
          <p:cNvPr id="64" name="Oval 63"/>
          <p:cNvSpPr/>
          <p:nvPr/>
        </p:nvSpPr>
        <p:spPr>
          <a:xfrm>
            <a:off x="6940296" y="1945386"/>
            <a:ext cx="402336" cy="40233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5" name="Connector 64"/>
          <p:cNvCxnSpPr/>
          <p:nvPr/>
        </p:nvCxnSpPr>
        <p:spPr>
          <a:xfrm flipV="1">
            <a:off x="4645152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645152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645152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6940296" y="2507742"/>
            <a:ext cx="402336" cy="40233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4645152" y="224028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645152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45152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940296" y="3070098"/>
            <a:ext cx="402336" cy="40233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4645152" y="224028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645152" y="2990088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645152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940296" y="3632454"/>
            <a:ext cx="402336" cy="40233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7" name="Connector 76"/>
          <p:cNvCxnSpPr/>
          <p:nvPr/>
        </p:nvCxnSpPr>
        <p:spPr>
          <a:xfrm>
            <a:off x="4645152" y="224028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45152" y="2990088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45152" y="3739896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206240" y="4709160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neurons side by side
each with its own weights
4 outputs = 1 layer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16952" y="28346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836408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
MATRIX FORM</a:t>
            </a:r>
          </a:p>
        </p:txBody>
      </p:sp>
      <p:sp>
        <p:nvSpPr>
          <p:cNvPr id="85" name="Oval 84"/>
          <p:cNvSpPr/>
          <p:nvPr/>
        </p:nvSpPr>
        <p:spPr>
          <a:xfrm>
            <a:off x="8001000" y="2039112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699248" y="21031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</a:t>
            </a:r>
          </a:p>
        </p:txBody>
      </p:sp>
      <p:sp>
        <p:nvSpPr>
          <p:cNvPr id="87" name="Oval 86"/>
          <p:cNvSpPr/>
          <p:nvPr/>
        </p:nvSpPr>
        <p:spPr>
          <a:xfrm>
            <a:off x="8001000" y="2788920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699248" y="28529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</a:t>
            </a:r>
          </a:p>
        </p:txBody>
      </p:sp>
      <p:sp>
        <p:nvSpPr>
          <p:cNvPr id="89" name="Oval 88"/>
          <p:cNvSpPr/>
          <p:nvPr/>
        </p:nvSpPr>
        <p:spPr>
          <a:xfrm>
            <a:off x="8001000" y="3538728"/>
            <a:ext cx="402336" cy="402336"/>
          </a:xfrm>
          <a:prstGeom prst="ellipse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699248" y="360273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x3</a:t>
            </a:r>
          </a:p>
        </p:txBody>
      </p:sp>
      <p:sp>
        <p:nvSpPr>
          <p:cNvPr id="91" name="Oval 90"/>
          <p:cNvSpPr/>
          <p:nvPr/>
        </p:nvSpPr>
        <p:spPr>
          <a:xfrm>
            <a:off x="10698480" y="1945386"/>
            <a:ext cx="402336" cy="40233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2" name="Connector 91"/>
          <p:cNvCxnSpPr/>
          <p:nvPr/>
        </p:nvCxnSpPr>
        <p:spPr>
          <a:xfrm flipV="1">
            <a:off x="8403336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403336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403336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10698480" y="2507742"/>
            <a:ext cx="402336" cy="40233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8403336" y="224028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403336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403336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10698480" y="3070098"/>
            <a:ext cx="402336" cy="40233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0" name="Connector 99"/>
          <p:cNvCxnSpPr/>
          <p:nvPr/>
        </p:nvCxnSpPr>
        <p:spPr>
          <a:xfrm>
            <a:off x="8403336" y="224028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403336" y="2990088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403336" y="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10698480" y="3632454"/>
            <a:ext cx="402336" cy="40233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8403336" y="2240280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03336" y="2990088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403336" y="3739896"/>
            <a:ext cx="2295144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8019288" y="4160520"/>
            <a:ext cx="3154680" cy="420624"/>
          </a:xfrm>
          <a:prstGeom prst="rect">
            <a:avLst/>
          </a:prstGeom>
          <a:solidFill>
            <a:srgbClr val="101F3D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019288" y="4160520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= f( X @ W + b 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64424" y="4709160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operations become
one matrix multiply:
Y = f(X @ W + b)</a:t>
            </a:r>
          </a:p>
        </p:txBody>
      </p:sp>
    </p:spTree>
    <p:extLst>
      <p:ext uri="{BB962C8B-B14F-4D97-AF65-F5344CB8AC3E}">
        <p14:creationId xmlns:p14="http://schemas.microsoft.com/office/powerpoint/2010/main" val="338926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Layers of a Neural Network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Input, hidden, and output layers each serve a distinct purpose.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365760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14630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116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Receives raw data.
One neuron per feature.
Image: one per pixel value.
No computation here.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146304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297680" y="1463040"/>
            <a:ext cx="365760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297680" y="14630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LAYERS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20116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 data step by step.
Each layer extracts more
abstract features.
More layers = 'deeper' network.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146304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229600" y="1463040"/>
            <a:ext cx="3657600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229600" y="14630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 LAYER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0116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Produces the final prediction.
Classification: one neuron
per class. Regression:
single neuron.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39776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FLOW THROUGH THE NETWORK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4297680"/>
            <a:ext cx="11612880" cy="228600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4" name="Connector 53"/>
          <p:cNvCxnSpPr/>
          <p:nvPr/>
        </p:nvCxnSpPr>
        <p:spPr>
          <a:xfrm flipV="1">
            <a:off x="1097280" y="4572000"/>
            <a:ext cx="2377440" cy="18288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97280" y="4754880"/>
            <a:ext cx="237744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97280" y="4754880"/>
            <a:ext cx="2377440" cy="7315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97280" y="4754880"/>
            <a:ext cx="2377440" cy="11887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097280" y="4572000"/>
            <a:ext cx="2377440" cy="7315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97280" y="5029200"/>
            <a:ext cx="237744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97280" y="5303520"/>
            <a:ext cx="2377440" cy="18288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97280" y="5303520"/>
            <a:ext cx="2377440" cy="64008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97280" y="4572000"/>
            <a:ext cx="2377440" cy="128016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97280" y="5029200"/>
            <a:ext cx="2377440" cy="82296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97280" y="5486400"/>
            <a:ext cx="2377440" cy="36576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97280" y="5852160"/>
            <a:ext cx="2377440" cy="9144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474720" y="4572000"/>
            <a:ext cx="2377440" cy="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474720" y="4572000"/>
            <a:ext cx="2377440" cy="4572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474720" y="4572000"/>
            <a:ext cx="2377440" cy="9144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474720" y="4572000"/>
            <a:ext cx="2377440" cy="13716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474720" y="4572000"/>
            <a:ext cx="2377440" cy="4572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74720" y="5029200"/>
            <a:ext cx="2377440" cy="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474720" y="5029200"/>
            <a:ext cx="2377440" cy="4572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474720" y="5029200"/>
            <a:ext cx="2377440" cy="9144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474720" y="4572000"/>
            <a:ext cx="2377440" cy="9144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474720" y="5029200"/>
            <a:ext cx="2377440" cy="4572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474720" y="5486400"/>
            <a:ext cx="2377440" cy="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474720" y="5486400"/>
            <a:ext cx="2377440" cy="4572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474720" y="4572000"/>
            <a:ext cx="2377440" cy="13716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474720" y="5029200"/>
            <a:ext cx="2377440" cy="9144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474720" y="5486400"/>
            <a:ext cx="2377440" cy="45720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474720" y="5943600"/>
            <a:ext cx="2377440" cy="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852160" y="4572000"/>
            <a:ext cx="2377440" cy="18288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852160" y="4572000"/>
            <a:ext cx="2377440" cy="7315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852160" y="4572000"/>
            <a:ext cx="2377440" cy="128016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852160" y="4754880"/>
            <a:ext cx="237744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852160" y="5029200"/>
            <a:ext cx="237744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852160" y="5029200"/>
            <a:ext cx="2377440" cy="82296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852160" y="4754880"/>
            <a:ext cx="2377440" cy="7315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852160" y="5303520"/>
            <a:ext cx="2377440" cy="18288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852160" y="5486400"/>
            <a:ext cx="2377440" cy="36576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852160" y="4754880"/>
            <a:ext cx="2377440" cy="11887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852160" y="5303520"/>
            <a:ext cx="2377440" cy="64008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852160" y="5852160"/>
            <a:ext cx="2377440" cy="9144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229600" y="4754880"/>
            <a:ext cx="237744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229600" y="4754880"/>
            <a:ext cx="2377440" cy="82296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229600" y="5029200"/>
            <a:ext cx="237744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229600" y="5303520"/>
            <a:ext cx="237744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229600" y="5029200"/>
            <a:ext cx="2377440" cy="82296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229600" y="5577840"/>
            <a:ext cx="237744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932688" y="459028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932688" y="513892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932688" y="568756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3310128" y="44074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310128" y="48646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3310128" y="53218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3310128" y="57790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687568" y="44074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5687568" y="48646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5687568" y="53218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5687568" y="57790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8065008" y="459028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8065008" y="513892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8065008" y="568756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10442448" y="48646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10442448" y="541324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008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01752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9496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77240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4984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0312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8056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23544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Stacking Layers — Why Depth Matters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" y="1019415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layer builds more abstract features — edges become shapes, shapes become objects.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
LOW-LEVEL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19202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1-2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4231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24231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---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80260" y="24231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080260" y="24231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3375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33375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|||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80260" y="33375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080260" y="33375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\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2519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8640" y="42519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...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80260" y="42519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080260" y="42519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1663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8640" y="51663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//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80260" y="51663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80260" y="51663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" y="4846320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Detects raw patterns:
edges, gradients,
simple textures</a:t>
            </a:r>
          </a:p>
        </p:txBody>
      </p:sp>
      <p:sp>
        <p:nvSpPr>
          <p:cNvPr id="61" name="Oval 60"/>
          <p:cNvSpPr/>
          <p:nvPr/>
        </p:nvSpPr>
        <p:spPr>
          <a:xfrm>
            <a:off x="1842516" y="57972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842516" y="58521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58768" y="310896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78224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
MID-LEVEL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78224" y="19202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3-6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06824" y="24231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306824" y="24231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Eye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38444" y="24231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838444" y="24231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06824" y="33375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306824" y="33375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Nose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38444" y="3337560"/>
            <a:ext cx="1458468" cy="77724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838444" y="3337560"/>
            <a:ext cx="14584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Mouth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0" y="4846320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Composes patterns:
eyes, wheels,
text fragments</a:t>
            </a:r>
          </a:p>
        </p:txBody>
      </p:sp>
      <p:sp>
        <p:nvSpPr>
          <p:cNvPr id="77" name="Oval 76"/>
          <p:cNvSpPr/>
          <p:nvPr/>
        </p:nvSpPr>
        <p:spPr>
          <a:xfrm>
            <a:off x="5600700" y="57972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600700" y="58521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16952" y="310896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36408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
HIGH-LEVEL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36408" y="19202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7+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065008" y="2423160"/>
            <a:ext cx="2990088" cy="146304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065008" y="2423160"/>
            <a:ext cx="2990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Face
98%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64424" y="4846320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Abstract meaning:
faces, cars,
sentiment, intent</a:t>
            </a:r>
          </a:p>
        </p:txBody>
      </p:sp>
      <p:sp>
        <p:nvSpPr>
          <p:cNvPr id="87" name="Oval 86"/>
          <p:cNvSpPr/>
          <p:nvPr/>
        </p:nvSpPr>
        <p:spPr>
          <a:xfrm>
            <a:off x="9358884" y="57972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358884" y="58521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625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Propagation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flows left to right through every layer — input tensor transforms at each step.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71600"/>
            <a:ext cx="256032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20040" y="1371600"/>
            <a:ext cx="256032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0040" y="1371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</a:t>
            </a:r>
          </a:p>
        </p:txBody>
      </p:sp>
      <p:sp>
        <p:nvSpPr>
          <p:cNvPr id="44" name="Oval 43"/>
          <p:cNvSpPr/>
          <p:nvPr/>
        </p:nvSpPr>
        <p:spPr>
          <a:xfrm>
            <a:off x="1399032" y="2359152"/>
            <a:ext cx="402336" cy="402336"/>
          </a:xfrm>
          <a:prstGeom prst="ellipse">
            <a:avLst/>
          </a:prstGeom>
          <a:solidFill>
            <a:srgbClr val="002838"/>
          </a:solidFill>
          <a:ln w="2286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399032" y="2862072"/>
            <a:ext cx="402336" cy="402336"/>
          </a:xfrm>
          <a:prstGeom prst="ellipse">
            <a:avLst/>
          </a:prstGeom>
          <a:solidFill>
            <a:srgbClr val="002838"/>
          </a:solidFill>
          <a:ln w="2286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399032" y="3364992"/>
            <a:ext cx="402336" cy="402336"/>
          </a:xfrm>
          <a:prstGeom prst="ellipse">
            <a:avLst/>
          </a:prstGeom>
          <a:solidFill>
            <a:srgbClr val="002838"/>
          </a:solidFill>
          <a:ln w="2286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399032" y="3867912"/>
            <a:ext cx="402336" cy="402336"/>
          </a:xfrm>
          <a:prstGeom prst="ellipse">
            <a:avLst/>
          </a:prstGeom>
          <a:solidFill>
            <a:srgbClr val="002838"/>
          </a:solidFill>
          <a:ln w="2286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399032" y="4370832"/>
            <a:ext cx="402336" cy="402336"/>
          </a:xfrm>
          <a:prstGeom prst="ellipse">
            <a:avLst/>
          </a:prstGeom>
          <a:solidFill>
            <a:srgbClr val="002838"/>
          </a:solidFill>
          <a:ln w="2286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399032" y="4873752"/>
            <a:ext cx="402336" cy="402336"/>
          </a:xfrm>
          <a:prstGeom prst="ellipse">
            <a:avLst/>
          </a:prstGeom>
          <a:solidFill>
            <a:srgbClr val="002838"/>
          </a:solidFill>
          <a:ln w="2286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7200" y="5138928"/>
            <a:ext cx="2286000" cy="347472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200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Tensor: (1, 784)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" y="5559552"/>
            <a:ext cx="23408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Raw data tensor
shape (1, 784)
28x28 image flattened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0" y="3291840"/>
            <a:ext cx="0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898648" y="310896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36392" y="1371600"/>
            <a:ext cx="256032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136392" y="1371600"/>
            <a:ext cx="256032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36392" y="1371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36392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1</a:t>
            </a:r>
          </a:p>
        </p:txBody>
      </p:sp>
      <p:sp>
        <p:nvSpPr>
          <p:cNvPr id="59" name="Oval 58"/>
          <p:cNvSpPr/>
          <p:nvPr/>
        </p:nvSpPr>
        <p:spPr>
          <a:xfrm>
            <a:off x="4215384" y="2359152"/>
            <a:ext cx="402336" cy="402336"/>
          </a:xfrm>
          <a:prstGeom prst="ellipse">
            <a:avLst/>
          </a:prstGeom>
          <a:solidFill>
            <a:srgbClr val="00281C"/>
          </a:solidFill>
          <a:ln w="2286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4215384" y="2862072"/>
            <a:ext cx="402336" cy="402336"/>
          </a:xfrm>
          <a:prstGeom prst="ellipse">
            <a:avLst/>
          </a:prstGeom>
          <a:solidFill>
            <a:srgbClr val="00281C"/>
          </a:solidFill>
          <a:ln w="2286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4215384" y="3364992"/>
            <a:ext cx="402336" cy="402336"/>
          </a:xfrm>
          <a:prstGeom prst="ellipse">
            <a:avLst/>
          </a:prstGeom>
          <a:solidFill>
            <a:srgbClr val="00281C"/>
          </a:solidFill>
          <a:ln w="2286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4215384" y="3867912"/>
            <a:ext cx="402336" cy="402336"/>
          </a:xfrm>
          <a:prstGeom prst="ellipse">
            <a:avLst/>
          </a:prstGeom>
          <a:solidFill>
            <a:srgbClr val="00281C"/>
          </a:solidFill>
          <a:ln w="2286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4215384" y="4370832"/>
            <a:ext cx="402336" cy="402336"/>
          </a:xfrm>
          <a:prstGeom prst="ellipse">
            <a:avLst/>
          </a:prstGeom>
          <a:solidFill>
            <a:srgbClr val="00281C"/>
          </a:solidFill>
          <a:ln w="2286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273552" y="5138928"/>
            <a:ext cx="2286000" cy="347472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273552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Tensor: (1, 512)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46120" y="5559552"/>
            <a:ext cx="23408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MatMul + ReLU
shape (1, 512)
Learns low features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0" y="3291840"/>
            <a:ext cx="0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715000" y="310896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52744" y="1371600"/>
            <a:ext cx="256032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952744" y="1371600"/>
            <a:ext cx="2560320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952744" y="1371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52744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2</a:t>
            </a:r>
          </a:p>
        </p:txBody>
      </p:sp>
      <p:sp>
        <p:nvSpPr>
          <p:cNvPr id="73" name="Oval 72"/>
          <p:cNvSpPr/>
          <p:nvPr/>
        </p:nvSpPr>
        <p:spPr>
          <a:xfrm>
            <a:off x="7031736" y="2359152"/>
            <a:ext cx="402336" cy="402336"/>
          </a:xfrm>
          <a:prstGeom prst="ellipse">
            <a:avLst/>
          </a:prstGeom>
          <a:solidFill>
            <a:srgbClr val="180A38"/>
          </a:solidFill>
          <a:ln w="2286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7031736" y="2862072"/>
            <a:ext cx="402336" cy="402336"/>
          </a:xfrm>
          <a:prstGeom prst="ellipse">
            <a:avLst/>
          </a:prstGeom>
          <a:solidFill>
            <a:srgbClr val="180A38"/>
          </a:solidFill>
          <a:ln w="2286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031736" y="3364992"/>
            <a:ext cx="402336" cy="402336"/>
          </a:xfrm>
          <a:prstGeom prst="ellipse">
            <a:avLst/>
          </a:prstGeom>
          <a:solidFill>
            <a:srgbClr val="180A38"/>
          </a:solidFill>
          <a:ln w="2286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7031736" y="3867912"/>
            <a:ext cx="402336" cy="402336"/>
          </a:xfrm>
          <a:prstGeom prst="ellipse">
            <a:avLst/>
          </a:prstGeom>
          <a:solidFill>
            <a:srgbClr val="180A38"/>
          </a:solidFill>
          <a:ln w="2286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6089904" y="5138928"/>
            <a:ext cx="2286000" cy="347472"/>
          </a:xfrm>
          <a:prstGeom prst="rect">
            <a:avLst/>
          </a:prstGeom>
          <a:solidFill>
            <a:srgbClr val="101F3D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089904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Tensor: (1, 128)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62472" y="5559552"/>
            <a:ext cx="23408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MatMul + ReLU
shape (1, 128)
Learns high features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0" y="3291840"/>
            <a:ext cx="0" cy="0"/>
          </a:xfrm>
          <a:prstGeom prst="line">
            <a:avLst/>
          </a:prstGeom>
          <a:ln w="762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531352" y="310896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69096" y="1371600"/>
            <a:ext cx="256032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769096" y="1371600"/>
            <a:ext cx="2560320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769096" y="1371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69096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  <p:sp>
        <p:nvSpPr>
          <p:cNvPr id="86" name="Oval 85"/>
          <p:cNvSpPr/>
          <p:nvPr/>
        </p:nvSpPr>
        <p:spPr>
          <a:xfrm>
            <a:off x="9848088" y="2359152"/>
            <a:ext cx="402336" cy="402336"/>
          </a:xfrm>
          <a:prstGeom prst="ellipse">
            <a:avLst/>
          </a:prstGeom>
          <a:solidFill>
            <a:srgbClr val="321406"/>
          </a:solidFill>
          <a:ln w="2286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9848088" y="2862072"/>
            <a:ext cx="402336" cy="402336"/>
          </a:xfrm>
          <a:prstGeom prst="ellipse">
            <a:avLst/>
          </a:prstGeom>
          <a:solidFill>
            <a:srgbClr val="321406"/>
          </a:solidFill>
          <a:ln w="2286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9848088" y="3364992"/>
            <a:ext cx="402336" cy="402336"/>
          </a:xfrm>
          <a:prstGeom prst="ellipse">
            <a:avLst/>
          </a:prstGeom>
          <a:solidFill>
            <a:srgbClr val="321406"/>
          </a:solidFill>
          <a:ln w="2286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906256" y="5138928"/>
            <a:ext cx="2286000" cy="347472"/>
          </a:xfrm>
          <a:prstGeom prst="rect">
            <a:avLst/>
          </a:prstGeom>
          <a:solidFill>
            <a:srgbClr val="101F3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906256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Tensor: (1, 10)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78824" y="5559552"/>
            <a:ext cx="23408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MatMul + Softmax
shape (1, 10)
Probability per class</a:t>
            </a:r>
          </a:p>
        </p:txBody>
      </p:sp>
    </p:spTree>
    <p:extLst>
      <p:ext uri="{BB962C8B-B14F-4D97-AF65-F5344CB8AC3E}">
        <p14:creationId xmlns:p14="http://schemas.microsoft.com/office/powerpoint/2010/main" val="232036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Big Picture: How Neural Networks 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Training is a loop: predict, measure error, compute blame, update weights. Repeat.</a:t>
            </a:r>
          </a:p>
        </p:txBody>
      </p:sp>
      <p:sp>
        <p:nvSpPr>
          <p:cNvPr id="40" name="Oval 39"/>
          <p:cNvSpPr/>
          <p:nvPr/>
        </p:nvSpPr>
        <p:spPr>
          <a:xfrm>
            <a:off x="2880360" y="1874520"/>
            <a:ext cx="1188720" cy="11887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07792" y="2121408"/>
            <a:ext cx="113385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FORWARD
PASS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74720" y="2468880"/>
            <a:ext cx="1737360" cy="173736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617720" y="3611880"/>
            <a:ext cx="1188720" cy="11887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45152" y="3858768"/>
            <a:ext cx="113385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COMPUTE
LOSS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3474720" y="4206240"/>
            <a:ext cx="1737360" cy="173736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880360" y="5349240"/>
            <a:ext cx="1188720" cy="11887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07792" y="5596128"/>
            <a:ext cx="113385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BACKWARD
PASS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1737360" y="4206240"/>
            <a:ext cx="1737360" cy="1737360"/>
          </a:xfrm>
          <a:prstGeom prst="line">
            <a:avLst/>
          </a:prstGeom>
          <a:ln w="1905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143000" y="3611880"/>
            <a:ext cx="1188720" cy="11887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70432" y="3858768"/>
            <a:ext cx="113385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UPDATE
WEIGHTS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1737360" y="2468880"/>
            <a:ext cx="1737360" cy="1737360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971800" y="3886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REPEAT
1000s of
times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1463040"/>
            <a:ext cx="5486400" cy="1170432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400800" y="1463040"/>
            <a:ext cx="109728" cy="117043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656832" y="15727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56832" y="193852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flows INPUT -&gt; OUTPUT through layers.
Each neuron computes: z = Wx + b, then a = f(z).
Result: a prediction (e.g., 'this image is a cat').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2761488"/>
            <a:ext cx="5486400" cy="1170432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400800" y="2761488"/>
            <a:ext cx="109728" cy="117043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656832" y="287121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Function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3236976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Compares prediction vs truth.
E.g., predicted 70% cat, truth = 100% cat.
Loss = 0.357 (lower = better).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4059936"/>
            <a:ext cx="5486400" cy="1170432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400800" y="4059936"/>
            <a:ext cx="109728" cy="1170432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656832" y="416966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Backward Pass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56832" y="4535424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Uses calculus (chain rule) to work backwards.
Computes the gradient of loss w.r.t. every weight.
'This weight made the error worse by 0.05.'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5358384"/>
            <a:ext cx="5486400" cy="1170432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400800" y="5358384"/>
            <a:ext cx="109728" cy="117043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56832" y="54681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 Update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6832" y="583387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w_new = w_old - learning_rate x gradient.
Each weight adjusted to reduce the error.
Learning rate controls step size.</a:t>
            </a:r>
          </a:p>
        </p:txBody>
      </p:sp>
    </p:spTree>
    <p:extLst>
      <p:ext uri="{BB962C8B-B14F-4D97-AF65-F5344CB8AC3E}">
        <p14:creationId xmlns:p14="http://schemas.microsoft.com/office/powerpoint/2010/main" val="1381250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Pass: Data Flows Left to Right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layer transforms its input using weights, bias, and an activation function.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4630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4320" y="1463040"/>
            <a:ext cx="274320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4320" y="14630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</a:t>
            </a:r>
          </a:p>
        </p:txBody>
      </p:sp>
      <p:sp>
        <p:nvSpPr>
          <p:cNvPr id="43" name="Oval 42"/>
          <p:cNvSpPr/>
          <p:nvPr/>
        </p:nvSpPr>
        <p:spPr>
          <a:xfrm>
            <a:off x="1078992" y="2103120"/>
            <a:ext cx="1133856" cy="1133856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7899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
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" y="4005072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Raw data enters the
network. Each feature
is one input neuron.
E.g., pixel values or
word embeddings.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14630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00400" y="1463040"/>
            <a:ext cx="274320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00400" y="14630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</a:t>
            </a:r>
          </a:p>
        </p:txBody>
      </p:sp>
      <p:sp>
        <p:nvSpPr>
          <p:cNvPr id="51" name="Oval 50"/>
          <p:cNvSpPr/>
          <p:nvPr/>
        </p:nvSpPr>
        <p:spPr>
          <a:xfrm>
            <a:off x="4005072" y="2103120"/>
            <a:ext cx="1133856" cy="113385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0507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WEIGHTED
SUM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8416" y="4005072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Multiply each input
by its weight, add
them all up, then
add the bias.
z = W*x +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14630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126480" y="1463040"/>
            <a:ext cx="2743200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26480" y="14630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</a:t>
            </a:r>
          </a:p>
        </p:txBody>
      </p:sp>
      <p:sp>
        <p:nvSpPr>
          <p:cNvPr id="59" name="Oval 58"/>
          <p:cNvSpPr/>
          <p:nvPr/>
        </p:nvSpPr>
        <p:spPr>
          <a:xfrm>
            <a:off x="6931152" y="2103120"/>
            <a:ext cx="1133856" cy="113385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93115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f(z)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ACTIVATION
FUNCTION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54496" y="4005072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a non-linear
function to introduce
curves.
a = ReLU(z)
or sigmoid(z)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52560" y="14630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052560" y="1463040"/>
            <a:ext cx="2743200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052560" y="14630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4</a:t>
            </a:r>
          </a:p>
        </p:txBody>
      </p:sp>
      <p:sp>
        <p:nvSpPr>
          <p:cNvPr id="67" name="Oval 66"/>
          <p:cNvSpPr/>
          <p:nvPr/>
        </p:nvSpPr>
        <p:spPr>
          <a:xfrm>
            <a:off x="9857232" y="2103120"/>
            <a:ext cx="1133856" cy="1133856"/>
          </a:xfrm>
          <a:prstGeom prst="ellipse">
            <a:avLst/>
          </a:prstGeom>
          <a:solidFill>
            <a:srgbClr val="321406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85723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TO
NEXT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0576" y="4005072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activated output
becomes the input to
the next layer.
Repeat until the
output layer.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" y="5394960"/>
            <a:ext cx="11612880" cy="118872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5720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FORWARD PASS AT EVERY LAYER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W * x + 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= f(z)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weighted sum (linear)  |  f = activation (non-linear)  |  a = output passed to next layer</a:t>
            </a:r>
          </a:p>
        </p:txBody>
      </p:sp>
    </p:spTree>
    <p:extLst>
      <p:ext uri="{BB962C8B-B14F-4D97-AF65-F5344CB8AC3E}">
        <p14:creationId xmlns:p14="http://schemas.microsoft.com/office/powerpoint/2010/main" val="2668956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Tensor?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8595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tensor is just an n-dimensional array of numbers — how ALL data lives inside a neural network.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25880"/>
            <a:ext cx="2670048" cy="532180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20040" y="1325880"/>
            <a:ext cx="2670048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0040" y="1325880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0-D
SCALAR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43584" y="2176272"/>
            <a:ext cx="822960" cy="82296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43584" y="217627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" y="3703320"/>
            <a:ext cx="2414016" cy="384048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8056" y="3703320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4206240"/>
            <a:ext cx="24140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number
7.3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" y="5166360"/>
            <a:ext cx="2414016" cy="77724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48056" y="5193792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
Single pixel
value</a:t>
            </a:r>
          </a:p>
        </p:txBody>
      </p:sp>
      <p:sp>
        <p:nvSpPr>
          <p:cNvPr id="50" name="Oval 49"/>
          <p:cNvSpPr/>
          <p:nvPr/>
        </p:nvSpPr>
        <p:spPr>
          <a:xfrm>
            <a:off x="1417320" y="5998464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17320" y="60533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91256" y="1325880"/>
            <a:ext cx="2670048" cy="532180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191256" y="1325880"/>
            <a:ext cx="2670048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191256" y="1325880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1-D
VECTOR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74136" y="1901952"/>
            <a:ext cx="2304288" cy="329184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74136" y="1901952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74136" y="2286000"/>
            <a:ext cx="2304288" cy="329184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374136" y="2286000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74136" y="2670048"/>
            <a:ext cx="2304288" cy="329184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74136" y="2670048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74136" y="3054096"/>
            <a:ext cx="2304288" cy="329184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374136" y="3054096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9272" y="3703320"/>
            <a:ext cx="2414016" cy="384048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319272" y="3703320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(4,)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9272" y="4206240"/>
            <a:ext cx="24140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 of numbers
[1.2, 0.5, -0.8, 2.1]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9272" y="5166360"/>
            <a:ext cx="2414016" cy="77724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19272" y="5193792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
Word
embedding</a:t>
            </a:r>
          </a:p>
        </p:txBody>
      </p:sp>
      <p:sp>
        <p:nvSpPr>
          <p:cNvPr id="68" name="Oval 67"/>
          <p:cNvSpPr/>
          <p:nvPr/>
        </p:nvSpPr>
        <p:spPr>
          <a:xfrm>
            <a:off x="4288536" y="5998464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288536" y="60533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62472" y="1325880"/>
            <a:ext cx="2670048" cy="532180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062472" y="1325880"/>
            <a:ext cx="2670048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062472" y="1325880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2-D
MATRIX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91072" y="1901952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91072" y="1901952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0" y="1901952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949440" y="1901952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07808" y="1901952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607808" y="1901952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91072" y="2377440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291072" y="2377440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49440" y="2377440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949440" y="2377440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07808" y="2377440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607808" y="2377440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91072" y="2852928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291072" y="2852928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49440" y="2852928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949440" y="2852928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07808" y="2852928"/>
            <a:ext cx="603504" cy="420624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607808" y="2852928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90488" y="3703320"/>
            <a:ext cx="2414016" cy="384048"/>
          </a:xfrm>
          <a:prstGeom prst="rect">
            <a:avLst/>
          </a:prstGeom>
          <a:solidFill>
            <a:srgbClr val="101F3D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190488" y="3703320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(3,3)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90488" y="4206240"/>
            <a:ext cx="24140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Grid of numbers
e.g. grayscale image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90488" y="5166360"/>
            <a:ext cx="2414016" cy="77724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190488" y="5193792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
Grayscale
image</a:t>
            </a:r>
          </a:p>
        </p:txBody>
      </p:sp>
      <p:sp>
        <p:nvSpPr>
          <p:cNvPr id="96" name="Oval 95"/>
          <p:cNvSpPr/>
          <p:nvPr/>
        </p:nvSpPr>
        <p:spPr>
          <a:xfrm>
            <a:off x="7159752" y="5998464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159752" y="60533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933688" y="1325880"/>
            <a:ext cx="2670048" cy="532180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933688" y="1325880"/>
            <a:ext cx="2670048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933688" y="1325880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3-D+
TENSOR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98280" y="1901952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573768" y="1901952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0049256" y="1901952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9098280" y="2249424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9573768" y="2249424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049256" y="2249424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9299448" y="2103120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9774936" y="2103120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0250424" y="2103120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9299448" y="2450592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9774936" y="2450592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0250424" y="2450592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9500616" y="2304288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9976104" y="2304288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0451592" y="2304288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9500616" y="2651760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9976104" y="2651760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0451592" y="2651760"/>
            <a:ext cx="420624" cy="292608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9061704" y="3703320"/>
            <a:ext cx="2414016" cy="384048"/>
          </a:xfrm>
          <a:prstGeom prst="rect">
            <a:avLst/>
          </a:prstGeom>
          <a:solidFill>
            <a:srgbClr val="101F3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061704" y="3703320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(H,W,3)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61704" y="4206240"/>
            <a:ext cx="24140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 of matrices
e.g. colour image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061704" y="5166360"/>
            <a:ext cx="2414016" cy="77724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061704" y="5193792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
RGB image
or video frame</a:t>
            </a:r>
          </a:p>
        </p:txBody>
      </p:sp>
      <p:sp>
        <p:nvSpPr>
          <p:cNvPr id="124" name="Oval 123"/>
          <p:cNvSpPr/>
          <p:nvPr/>
        </p:nvSpPr>
        <p:spPr>
          <a:xfrm>
            <a:off x="10030968" y="5998464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030968" y="60533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80771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Core Tensor 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neural network computation reduces to one of these three operations on tensors.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
ELEMENTWISE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8408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78408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8760" y="21214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0240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920240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95728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395728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920240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95728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395728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21214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19272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319272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94760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794760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9272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319272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94760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94760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056" y="2944368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Same-shape tensors:
each element operated
independently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" y="3977639"/>
            <a:ext cx="3264408" cy="384048"/>
          </a:xfrm>
          <a:prstGeom prst="rect">
            <a:avLst/>
          </a:prstGeom>
          <a:solidFill>
            <a:srgbClr val="00283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48056" y="3977639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+ b  or  a * b</a:t>
            </a:r>
          </a:p>
        </p:txBody>
      </p:sp>
      <p:sp>
        <p:nvSpPr>
          <p:cNvPr id="72" name="Oval 71"/>
          <p:cNvSpPr/>
          <p:nvPr/>
        </p:nvSpPr>
        <p:spPr>
          <a:xfrm>
            <a:off x="1842516" y="433425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42516" y="43891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58768" y="23774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78224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
MATRIX MULTIPLY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61104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261104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36592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736592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61104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61104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36592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736592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66944" y="21214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@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78424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678424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53912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53912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78424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678424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3912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153912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84264" y="21214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77456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077456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52944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552944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77456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077456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52944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552944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06240" y="2944368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Row-dot-column product
Core of every Dense layer
GPU-optimised for speed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3977639"/>
            <a:ext cx="3264408" cy="384048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206240" y="3977639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tf.matmul(a, b)  or  a @ b</a:t>
            </a:r>
          </a:p>
        </p:txBody>
      </p:sp>
      <p:sp>
        <p:nvSpPr>
          <p:cNvPr id="107" name="Oval 106"/>
          <p:cNvSpPr/>
          <p:nvPr/>
        </p:nvSpPr>
        <p:spPr>
          <a:xfrm>
            <a:off x="5600700" y="433425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600700" y="43891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16952" y="23774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836408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
BROADCAST + REDUCE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19288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019288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94776" y="1993392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494776" y="1993392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19288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019288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494776" y="2395728"/>
            <a:ext cx="437388" cy="364236"/>
          </a:xfrm>
          <a:prstGeom prst="rect">
            <a:avLst/>
          </a:prstGeom>
          <a:solidFill>
            <a:srgbClr val="101F3D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494776" y="2395728"/>
            <a:ext cx="437388" cy="36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25128" y="21214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390888" y="1993392"/>
            <a:ext cx="914400" cy="804672"/>
          </a:xfrm>
          <a:prstGeom prst="rect">
            <a:avLst/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390888" y="1993392"/>
            <a:ext cx="914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
=10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964424" y="2944368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Scalar ops on tensors
sum / mean along axis
Used in loss &amp; norms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964424" y="3977639"/>
            <a:ext cx="3264408" cy="384048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964424" y="3977639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tf.reduce_sum(a)</a:t>
            </a:r>
          </a:p>
        </p:txBody>
      </p:sp>
      <p:sp>
        <p:nvSpPr>
          <p:cNvPr id="127" name="Oval 126"/>
          <p:cNvSpPr/>
          <p:nvPr/>
        </p:nvSpPr>
        <p:spPr>
          <a:xfrm>
            <a:off x="9358884" y="433425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9358884" y="43891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23262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Tensor?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tensor is a container for numbers arranged in n dimensions - the universal data format for AI.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11430000" cy="914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9144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Definition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tensor is just a multi-dimensional array of numbers. Think of it as a generalization of scalars, vectors,
and matrices to any number of dimensions. Neural networks only understand tensors - not text, images, or audio.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2651760"/>
            <a:ext cx="2212848" cy="3657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74320" y="2651760"/>
            <a:ext cx="2212848" cy="50292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4320" y="26517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0D
SCALAR</a:t>
            </a:r>
          </a:p>
        </p:txBody>
      </p:sp>
      <p:sp>
        <p:nvSpPr>
          <p:cNvPr id="47" name="Oval 46"/>
          <p:cNvSpPr/>
          <p:nvPr/>
        </p:nvSpPr>
        <p:spPr>
          <a:xfrm>
            <a:off x="1179576" y="3456432"/>
            <a:ext cx="402336" cy="402336"/>
          </a:xfrm>
          <a:prstGeom prst="ellipse">
            <a:avLst/>
          </a:prstGeom>
          <a:solidFill>
            <a:srgbClr val="00E0FF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9576" y="340156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114800"/>
            <a:ext cx="20299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single number.
Example:
42
Shape: ()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33472" y="2651760"/>
            <a:ext cx="2212848" cy="3657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633472" y="2651760"/>
            <a:ext cx="2212848" cy="50292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633472" y="26517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1D
VECTOR</a:t>
            </a:r>
          </a:p>
        </p:txBody>
      </p:sp>
      <p:sp>
        <p:nvSpPr>
          <p:cNvPr id="53" name="Oval 52"/>
          <p:cNvSpPr/>
          <p:nvPr/>
        </p:nvSpPr>
        <p:spPr>
          <a:xfrm>
            <a:off x="2898648" y="3511296"/>
            <a:ext cx="292608" cy="292608"/>
          </a:xfrm>
          <a:prstGeom prst="ellipse">
            <a:avLst/>
          </a:prstGeom>
          <a:solidFill>
            <a:srgbClr val="00FFA0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355848" y="3511296"/>
            <a:ext cx="292608" cy="292608"/>
          </a:xfrm>
          <a:prstGeom prst="ellipse">
            <a:avLst/>
          </a:prstGeom>
          <a:solidFill>
            <a:srgbClr val="00FFA0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813048" y="3511296"/>
            <a:ext cx="292608" cy="292608"/>
          </a:xfrm>
          <a:prstGeom prst="ellipse">
            <a:avLst/>
          </a:prstGeom>
          <a:solidFill>
            <a:srgbClr val="00FFA0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4270248" y="3511296"/>
            <a:ext cx="292608" cy="292608"/>
          </a:xfrm>
          <a:prstGeom prst="ellipse">
            <a:avLst/>
          </a:prstGeom>
          <a:solidFill>
            <a:srgbClr val="00FFA0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724912" y="4114800"/>
            <a:ext cx="20299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list of numbers.
Example:
[3, 7, 1, 9]
Shape: (4,)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92624" y="2651760"/>
            <a:ext cx="2212848" cy="3657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992624" y="2651760"/>
            <a:ext cx="2212848" cy="50292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992624" y="26517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2D
MATRIX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75504" y="3383280"/>
            <a:ext cx="347472" cy="310896"/>
          </a:xfrm>
          <a:prstGeom prst="rect">
            <a:avLst/>
          </a:prstGeom>
          <a:solidFill>
            <a:srgbClr val="A85CFF"/>
          </a:solidFill>
          <a:ln w="6350">
            <a:solidFill>
              <a:srgbClr val="040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559552" y="3383280"/>
            <a:ext cx="347472" cy="310896"/>
          </a:xfrm>
          <a:prstGeom prst="rect">
            <a:avLst/>
          </a:prstGeom>
          <a:solidFill>
            <a:srgbClr val="A85CFF"/>
          </a:solidFill>
          <a:ln w="6350">
            <a:solidFill>
              <a:srgbClr val="040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943600" y="3383280"/>
            <a:ext cx="347472" cy="310896"/>
          </a:xfrm>
          <a:prstGeom prst="rect">
            <a:avLst/>
          </a:prstGeom>
          <a:solidFill>
            <a:srgbClr val="A85CFF"/>
          </a:solidFill>
          <a:ln w="6350">
            <a:solidFill>
              <a:srgbClr val="040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175504" y="3730752"/>
            <a:ext cx="347472" cy="310896"/>
          </a:xfrm>
          <a:prstGeom prst="rect">
            <a:avLst/>
          </a:prstGeom>
          <a:solidFill>
            <a:srgbClr val="A85CFF"/>
          </a:solidFill>
          <a:ln w="6350">
            <a:solidFill>
              <a:srgbClr val="040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559552" y="3730752"/>
            <a:ext cx="347472" cy="310896"/>
          </a:xfrm>
          <a:prstGeom prst="rect">
            <a:avLst/>
          </a:prstGeom>
          <a:solidFill>
            <a:srgbClr val="A85CFF"/>
          </a:solidFill>
          <a:ln w="6350">
            <a:solidFill>
              <a:srgbClr val="040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943600" y="3730752"/>
            <a:ext cx="347472" cy="310896"/>
          </a:xfrm>
          <a:prstGeom prst="rect">
            <a:avLst/>
          </a:prstGeom>
          <a:solidFill>
            <a:srgbClr val="A85CFF"/>
          </a:solidFill>
          <a:ln w="6350">
            <a:solidFill>
              <a:srgbClr val="040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084064" y="4114800"/>
            <a:ext cx="20299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table of numbers.
Rows and columns.
Example:
[[1,2],[3,4]]
Shape: (2, 2)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51776" y="2651760"/>
            <a:ext cx="2212848" cy="3657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351776" y="2651760"/>
            <a:ext cx="2212848" cy="50292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351776" y="26517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3D
TENSOR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34656" y="329184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854696" y="329184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534656" y="356616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854696" y="356616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7644384" y="338328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D74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7964424" y="338328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D74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644384" y="365760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D74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64424" y="365760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D74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7754112" y="347472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AF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8074152" y="3474720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AF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754112" y="3749039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AF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074152" y="3749039"/>
            <a:ext cx="292608" cy="246888"/>
          </a:xfrm>
          <a:prstGeom prst="rect">
            <a:avLst/>
          </a:prstGeom>
          <a:solidFill>
            <a:srgbClr val="FF722D"/>
          </a:solidFill>
          <a:ln w="6350">
            <a:solidFill>
              <a:srgbClr val="AF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43216" y="4114800"/>
            <a:ext cx="20299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cube of numbers.
Stack of matrices.
Like a spreadsheet
with multiple sheets.
Shape: (3, 4, 5)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10928" y="2651760"/>
            <a:ext cx="2212848" cy="3657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710928" y="2651760"/>
            <a:ext cx="2212848" cy="50292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710928" y="2651760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
TENSOR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93808" y="3291840"/>
            <a:ext cx="1097280" cy="548640"/>
          </a:xfrm>
          <a:prstGeom prst="rect">
            <a:avLst/>
          </a:prstGeom>
          <a:solidFill>
            <a:srgbClr val="FF3D8E"/>
          </a:solidFill>
          <a:ln w="63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0030968" y="3364992"/>
            <a:ext cx="1005839" cy="502919"/>
          </a:xfrm>
          <a:prstGeom prst="rect">
            <a:avLst/>
          </a:prstGeom>
          <a:solidFill>
            <a:srgbClr val="E11F70"/>
          </a:solidFill>
          <a:ln w="63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0168128" y="3438144"/>
            <a:ext cx="914400" cy="457200"/>
          </a:xfrm>
          <a:prstGeom prst="rect">
            <a:avLst/>
          </a:prstGeom>
          <a:solidFill>
            <a:srgbClr val="C30152"/>
          </a:solidFill>
          <a:ln w="63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0305287" y="3511296"/>
            <a:ext cx="822959" cy="411479"/>
          </a:xfrm>
          <a:prstGeom prst="rect">
            <a:avLst/>
          </a:prstGeom>
          <a:solidFill>
            <a:srgbClr val="A50034"/>
          </a:solidFill>
          <a:ln w="63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802368" y="4114800"/>
            <a:ext cx="20299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 number of
dimensions.
Video: 4D
(batch, frames,
H, W)
Shape: (...)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87168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46320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05472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64624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Journey: Raw Text to Tensor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corpus of text goes through several transformations before it becomes a tensor.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" y="1463040"/>
            <a:ext cx="219456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82880" y="1463040"/>
            <a:ext cx="219456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82880" y="14630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1</a:t>
            </a:r>
          </a:p>
        </p:txBody>
      </p:sp>
      <p:sp>
        <p:nvSpPr>
          <p:cNvPr id="43" name="Oval 42"/>
          <p:cNvSpPr/>
          <p:nvPr/>
        </p:nvSpPr>
        <p:spPr>
          <a:xfrm>
            <a:off x="713232" y="2103120"/>
            <a:ext cx="1133856" cy="1133856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323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336499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RAW
CORPUS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" y="3913632"/>
            <a:ext cx="19385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Books, articles,
websites, code.
Billions of words
of raw text.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1463040"/>
            <a:ext cx="219456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560320" y="1463040"/>
            <a:ext cx="219456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560320" y="14630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2</a:t>
            </a:r>
          </a:p>
        </p:txBody>
      </p:sp>
      <p:sp>
        <p:nvSpPr>
          <p:cNvPr id="51" name="Oval 50"/>
          <p:cNvSpPr/>
          <p:nvPr/>
        </p:nvSpPr>
        <p:spPr>
          <a:xfrm>
            <a:off x="3090672" y="2103120"/>
            <a:ext cx="1133856" cy="113385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09067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0" y="336499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TOKENIZE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67254" y="3780782"/>
            <a:ext cx="19385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 text into
sub-word pieces.
'unhappy' becomes
['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un','happy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37760" y="1463040"/>
            <a:ext cx="219456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937760" y="1463040"/>
            <a:ext cx="2194560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37760" y="14630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3</a:t>
            </a:r>
          </a:p>
        </p:txBody>
      </p:sp>
      <p:sp>
        <p:nvSpPr>
          <p:cNvPr id="59" name="Oval 58"/>
          <p:cNvSpPr/>
          <p:nvPr/>
        </p:nvSpPr>
        <p:spPr>
          <a:xfrm>
            <a:off x="5468112" y="2103120"/>
            <a:ext cx="1133856" cy="113385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6811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37760" y="336499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NUMERICIZE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05527" y="3813048"/>
            <a:ext cx="19385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 each token
to an integer ID
from vocabulary.
'cat' -&gt; 3797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0" y="1463040"/>
            <a:ext cx="219456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315200" y="1463040"/>
            <a:ext cx="2194560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315200" y="14630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4</a:t>
            </a:r>
          </a:p>
        </p:txBody>
      </p:sp>
      <p:sp>
        <p:nvSpPr>
          <p:cNvPr id="67" name="Oval 66"/>
          <p:cNvSpPr/>
          <p:nvPr/>
        </p:nvSpPr>
        <p:spPr>
          <a:xfrm>
            <a:off x="7845552" y="2103120"/>
            <a:ext cx="1133856" cy="1133856"/>
          </a:xfrm>
          <a:prstGeom prst="ellipse">
            <a:avLst/>
          </a:prstGeom>
          <a:solidFill>
            <a:srgbClr val="321406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84555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[v]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336499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EMBED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60107" y="3807960"/>
            <a:ext cx="19385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Convert each ID
to a dense vector
of 768 floats.
Learned values.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6404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92640" y="1463040"/>
            <a:ext cx="219456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692640" y="1463040"/>
            <a:ext cx="2194560" cy="438912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692640" y="14630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5</a:t>
            </a:r>
          </a:p>
        </p:txBody>
      </p:sp>
      <p:sp>
        <p:nvSpPr>
          <p:cNvPr id="75" name="Oval 74"/>
          <p:cNvSpPr/>
          <p:nvPr/>
        </p:nvSpPr>
        <p:spPr>
          <a:xfrm>
            <a:off x="10222992" y="2103120"/>
            <a:ext cx="1133856" cy="1133856"/>
          </a:xfrm>
          <a:prstGeom prst="ellipse">
            <a:avLst/>
          </a:prstGeom>
          <a:solidFill>
            <a:srgbClr val="32081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22299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336499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BATCH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92411" y="3824986"/>
            <a:ext cx="19385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Group sequences
into batches.
Result: 3D tensor
(batch,seq,dim)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74320" y="4937760"/>
            <a:ext cx="11612880" cy="164592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57200" y="4983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 EVOLUTION (tracking the data through each stage)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5349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Corpus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54480" y="534924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"The cat sat on the mat. Dogs run fast."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0" y="53492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556869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Tokens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54480" y="5568696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["The", "cat", "sat", "on", ...]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55686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(n_tokens,)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5788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54480" y="57881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[464, 3797, 3332, 319, ...]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578815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(n_tokens,) = 1D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6007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Embeds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54480" y="600760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[[0.12, -0.3, ...], [0.8, 0.1, ...], ...]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0" y="60076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(n_tokens, 768) = 2D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62270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Batched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54480" y="622706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[[[0.12,-0.3,...], ...], [[...], ...], ...]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86800" y="622706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(batch, seq_len, 768) = 3D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1: Tokenization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Breaking raw text into sub-word pieces that the model can process.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11430000" cy="5486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Input:  "The quick brown fox jumps over the lazy dog"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2286000"/>
            <a:ext cx="3749039" cy="3657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74320" y="2286000"/>
            <a:ext cx="3749039" cy="4572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4320" y="2286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WORD-LEVEL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283464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Splits on spaces:
["The", "quick", "brown",
 "fox", "jumps", "over",
 "the", "lazy", "dog"]
Vocab size: ~100,000+
Problem: unknown words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2286000"/>
            <a:ext cx="3749039" cy="3657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206240" y="2286000"/>
            <a:ext cx="3749039" cy="4572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06240" y="2286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CHARACTER-LEVEL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283464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character is a token:
["T","h","e"," ","q","u","i",
 "c","k"," ","b","r",...]
Vocab size: ~256
Problem: very long sequences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2286000"/>
            <a:ext cx="3749039" cy="3657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138160" y="2286000"/>
            <a:ext cx="3749039" cy="4572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38160" y="2286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SUB-WORD (BPE)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283464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Byte Pair Encoding:
["The", " quick", " brown",
 " fox", " jump", "s",
 " over", " the"," lazy"," dog"]
Vocab size: ~50,000
Best of both worlds!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6126480"/>
            <a:ext cx="11612880" cy="54864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74320" y="6126480"/>
            <a:ext cx="109728" cy="54864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2920" y="609904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Modern LLMs use BPE or SentencePiece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" y="6428232"/>
            <a:ext cx="112471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 uses ~50K tokens, Claude uses ~100K tokens. Common words are single tokens; rare words split into pieces.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2: Vocabulary &amp; Token IDs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unique token gets a permanent integer ID in the vocabulary lookup table.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VOCABULARY TABLE (excerpt)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1828800"/>
            <a:ext cx="4572000" cy="475488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1920240"/>
            <a:ext cx="2011680" cy="320040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Token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1920240"/>
            <a:ext cx="2011680" cy="320040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603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2860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"the"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22860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25603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"cat"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25603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3797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28346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"sat"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28346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3332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108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"on"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0" y="3108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3832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"mat"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33832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2603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3657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"dog"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0320" y="3657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9319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"is"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60320" y="39319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206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"a"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4206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480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"The"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0" y="4480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464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754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"happy"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0" y="4754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8569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0292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"un"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0320" y="50292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303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"&lt;PAD&gt;"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60320" y="5303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5577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"&lt;START&gt;"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0" y="5577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852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"&lt;END&gt;"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60320" y="5852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1264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"&lt;UNK&gt;"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60320" y="61264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520" y="1463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CONVERSION EXAMPLE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03520" y="1920240"/>
            <a:ext cx="6217920" cy="5486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303520" y="192024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"The cat sat on the mat"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12480" y="2468880"/>
            <a:ext cx="0" cy="27432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5394960" y="283464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394960" y="283464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0" y="283464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400800" y="283464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06640" y="283464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406640" y="283464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12480" y="283464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412480" y="283464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418320" y="283464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418320" y="283464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24160" y="283464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424160" y="283464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412480" y="3291840"/>
            <a:ext cx="0" cy="274320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5394960" y="365760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394960" y="365760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464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400800" y="365760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400800" y="365760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3797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406640" y="365760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406640" y="365760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3332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412480" y="365760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412480" y="365760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319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418320" y="365760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418320" y="365760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262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424160" y="3657600"/>
            <a:ext cx="868680" cy="457200"/>
          </a:xfrm>
          <a:prstGeom prst="roundRect">
            <a:avLst>
              <a:gd name="adj" fmla="val 2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424160" y="365760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2603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412480" y="4114800"/>
            <a:ext cx="0" cy="274320"/>
          </a:xfrm>
          <a:prstGeom prst="line">
            <a:avLst/>
          </a:prstGeom>
          <a:ln w="1905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5303520" y="4480560"/>
            <a:ext cx="6217920" cy="73152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39496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1D TENSOR (Vector)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94960" y="4800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[464, 3797, 3332, 319, 262, 2603]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94960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(6,)  |  dtype: int64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303520" y="5577840"/>
            <a:ext cx="6217920" cy="100584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303520" y="5577840"/>
            <a:ext cx="109728" cy="100584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559552" y="5687568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41264" y="592531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Token IDs are arbitrary integers - they have no mathematical meaning.
The number 3797 doesn't mean 'cat' is bigger than 'the' (262).
That's why we need EMBEDDINGS (next step) to give them meaning.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One-Hot Encoding: Creating a 2D Array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simplest way to represent tokens as vectors - one '1' in a sea of zeros.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5486400" cy="914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9144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It 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 a vector as long as the vocabulary. Set the position matching
the token's ID to 1, everything else to 0. Each word becomes a row.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651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ONE-HOT MATRIX  (6 tokens x 6 vocab)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017520"/>
            <a:ext cx="6400800" cy="310896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05840" y="31089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64208" y="31089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31089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80944" y="31089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9312" y="31089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31089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4290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130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19709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5811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96519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3492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" y="3429000"/>
            <a:ext cx="658368" cy="384048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5840" y="342900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64208" y="342900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664208" y="342900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22576" y="342900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322576" y="342900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0944" y="342900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980944" y="342900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39312" y="342900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639312" y="342900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97680" y="342900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297680" y="342900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5840" y="3813048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05840" y="381304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64208" y="3813048"/>
            <a:ext cx="658368" cy="384048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664208" y="381304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22576" y="3813048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322576" y="381304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80944" y="3813048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980944" y="381304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39312" y="3813048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639312" y="381304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7680" y="3813048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297680" y="381304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5840" y="4197096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05840" y="419709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64208" y="4197096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664208" y="419709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22576" y="4197096"/>
            <a:ext cx="658368" cy="384048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322576" y="419709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80944" y="4197096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980944" y="419709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39312" y="4197096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639312" y="419709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97680" y="4197096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297680" y="419709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5840" y="4581144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05840" y="4581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64208" y="4581144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664208" y="4581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4581144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322576" y="4581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80944" y="4581144"/>
            <a:ext cx="658368" cy="384048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980944" y="4581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39312" y="4581144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639312" y="4581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97680" y="4581144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297680" y="458114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" y="4965192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05840" y="4965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664208" y="4965192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664208" y="4965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322576" y="4965192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322576" y="4965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980944" y="4965192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980944" y="4965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39312" y="4965192"/>
            <a:ext cx="658368" cy="384048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639312" y="4965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297680" y="4965192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297680" y="496519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5840" y="534924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005840" y="53492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64208" y="534924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664208" y="53492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322576" y="534924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2322576" y="53492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980944" y="534924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980944" y="53492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39312" y="5349240"/>
            <a:ext cx="658368" cy="384048"/>
          </a:xfrm>
          <a:prstGeom prst="rect">
            <a:avLst/>
          </a:prstGeom>
          <a:solidFill>
            <a:srgbClr val="182844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639312" y="53492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97680" y="5349240"/>
            <a:ext cx="658368" cy="384048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297680" y="53492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(6, 6) = 2D MATRIX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57200" y="5852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(num_tokens, vocab_size)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4944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ANATOMY OF THE 2D ARRAY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949440" y="192024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6949440" y="1920240"/>
            <a:ext cx="109728" cy="9144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7205472" y="202996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Rows = Tokens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205472" y="239572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ROW represents one token in the sentence.
Row 0 = "The", Row 1 = "cat", Row 2 = "sat", ...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949440" y="301752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6949440" y="3017520"/>
            <a:ext cx="109728" cy="9144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205472" y="312724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Columns = Vocabulary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205472" y="34930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COLUMN represents one word in the vocabulary.
The '1' marks which vocabulary word this token is.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949440" y="4114800"/>
            <a:ext cx="4846320" cy="100584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949440" y="4114800"/>
            <a:ext cx="109728" cy="100584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7205472" y="422452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Problems with One-Hot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205472" y="459028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Huge: real vocab = 50K columns -&gt; mostly zeros
2. No similarity: 'cat' and 'kitten' are equally
   different as 'cat' and 'airplane'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949440" y="530352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6949440" y="5303520"/>
            <a:ext cx="109728" cy="9144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7205472" y="541324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 Embeddings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205472" y="57790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Replace the sparse one-hot vector with a DENSE vector
of learned floating-point numbers (next slide).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Word Embeddings: A Dense 2D Array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Replace sparse one-hot vectors with compact, meaningful floating-point vectors.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11430000" cy="914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9144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are Embeddings?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token ID is used to look up a row in a learned embedding matrix. That row is a dense vector of 768 numbers.
Similar words end up with similar vectors. 'king' - 'man' + 'woman' ~ 'queen'. This is learned during training.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651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EMBEDDING LOOKUP TABLE (simplified: 4 dimensions instead of 768)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017520"/>
            <a:ext cx="11612880" cy="246888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" y="3108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Token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108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dim_0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dim_1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dim_2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dim_3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4290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3429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-0.34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+0.56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+0.78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749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3749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3797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+0.91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+0.45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4069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3332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+0.82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-0.38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4389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1600" y="4389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+0.33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9184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-0.55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768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+0.71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4709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0" y="4709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262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8600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9184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8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+0.77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029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71600" y="5029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2603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860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-0.42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9184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+0.65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768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0352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+0.53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2D TENSOR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(6, 4)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39776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(num_tokens, embedding_dim)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49440" y="4297680"/>
            <a:ext cx="548640" cy="237744"/>
          </a:xfrm>
          <a:prstGeom prst="rect">
            <a:avLst/>
          </a:prstGeom>
          <a:solidFill>
            <a:srgbClr val="00A753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7543800" y="4297680"/>
            <a:ext cx="548640" cy="237744"/>
          </a:xfrm>
          <a:prstGeom prst="rect">
            <a:avLst/>
          </a:prstGeom>
          <a:solidFill>
            <a:srgbClr val="00783C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8138160" y="4297680"/>
            <a:ext cx="548640" cy="237744"/>
          </a:xfrm>
          <a:prstGeom prst="rect">
            <a:avLst/>
          </a:prstGeom>
          <a:solidFill>
            <a:srgbClr val="00D369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732520" y="4297680"/>
            <a:ext cx="548640" cy="237744"/>
          </a:xfrm>
          <a:prstGeom prst="rect">
            <a:avLst/>
          </a:prstGeom>
          <a:solidFill>
            <a:srgbClr val="00E974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949440" y="4572000"/>
            <a:ext cx="548640" cy="237744"/>
          </a:xfrm>
          <a:prstGeom prst="rect">
            <a:avLst/>
          </a:prstGeom>
          <a:solidFill>
            <a:srgbClr val="00F67B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7543800" y="4572000"/>
            <a:ext cx="548640" cy="237744"/>
          </a:xfrm>
          <a:prstGeom prst="rect">
            <a:avLst/>
          </a:prstGeom>
          <a:solidFill>
            <a:srgbClr val="008442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138160" y="4572000"/>
            <a:ext cx="548640" cy="237744"/>
          </a:xfrm>
          <a:prstGeom prst="rect">
            <a:avLst/>
          </a:prstGeom>
          <a:solidFill>
            <a:srgbClr val="00C864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732520" y="4572000"/>
            <a:ext cx="548640" cy="237744"/>
          </a:xfrm>
          <a:prstGeom prst="rect">
            <a:avLst/>
          </a:prstGeom>
          <a:solidFill>
            <a:srgbClr val="00582C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6949440" y="4846320"/>
            <a:ext cx="548640" cy="237744"/>
          </a:xfrm>
          <a:prstGeom prst="rect">
            <a:avLst/>
          </a:prstGeom>
          <a:solidFill>
            <a:srgbClr val="008C46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7543800" y="4846320"/>
            <a:ext cx="548640" cy="237744"/>
          </a:xfrm>
          <a:prstGeom prst="rect">
            <a:avLst/>
          </a:prstGeom>
          <a:solidFill>
            <a:srgbClr val="00EC76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8138160" y="4846320"/>
            <a:ext cx="548640" cy="237744"/>
          </a:xfrm>
          <a:prstGeom prst="rect">
            <a:avLst/>
          </a:prstGeom>
          <a:solidFill>
            <a:srgbClr val="00753A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732520" y="4846320"/>
            <a:ext cx="548640" cy="237744"/>
          </a:xfrm>
          <a:prstGeom prst="rect">
            <a:avLst/>
          </a:prstGeom>
          <a:solidFill>
            <a:srgbClr val="00A954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6949440" y="5120640"/>
            <a:ext cx="548640" cy="237744"/>
          </a:xfrm>
          <a:prstGeom prst="rect">
            <a:avLst/>
          </a:prstGeom>
          <a:solidFill>
            <a:srgbClr val="00BC5E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7543800" y="5120640"/>
            <a:ext cx="548640" cy="237744"/>
          </a:xfrm>
          <a:prstGeom prst="rect">
            <a:avLst/>
          </a:prstGeom>
          <a:solidFill>
            <a:srgbClr val="006432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8138160" y="5120640"/>
            <a:ext cx="548640" cy="237744"/>
          </a:xfrm>
          <a:prstGeom prst="rect">
            <a:avLst/>
          </a:prstGeom>
          <a:solidFill>
            <a:srgbClr val="00E271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8732520" y="5120640"/>
            <a:ext cx="548640" cy="237744"/>
          </a:xfrm>
          <a:prstGeom prst="rect">
            <a:avLst/>
          </a:prstGeom>
          <a:solidFill>
            <a:srgbClr val="009249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6949440" y="5394960"/>
            <a:ext cx="548640" cy="237744"/>
          </a:xfrm>
          <a:prstGeom prst="rect">
            <a:avLst/>
          </a:prstGeom>
          <a:solidFill>
            <a:srgbClr val="00A653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7543800" y="5394960"/>
            <a:ext cx="548640" cy="237744"/>
          </a:xfrm>
          <a:prstGeom prst="rect">
            <a:avLst/>
          </a:prstGeom>
          <a:solidFill>
            <a:srgbClr val="007A3D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8138160" y="5394960"/>
            <a:ext cx="548640" cy="237744"/>
          </a:xfrm>
          <a:prstGeom prst="rect">
            <a:avLst/>
          </a:prstGeom>
          <a:solidFill>
            <a:srgbClr val="00D269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8732520" y="5394960"/>
            <a:ext cx="548640" cy="237744"/>
          </a:xfrm>
          <a:prstGeom prst="rect">
            <a:avLst/>
          </a:prstGeom>
          <a:solidFill>
            <a:srgbClr val="00E874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6949440" y="5669280"/>
            <a:ext cx="548640" cy="237744"/>
          </a:xfrm>
          <a:prstGeom prst="rect">
            <a:avLst/>
          </a:prstGeom>
          <a:solidFill>
            <a:srgbClr val="007138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543800" y="5669280"/>
            <a:ext cx="548640" cy="237744"/>
          </a:xfrm>
          <a:prstGeom prst="rect">
            <a:avLst/>
          </a:prstGeom>
          <a:solidFill>
            <a:srgbClr val="00DC6E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8138160" y="5669280"/>
            <a:ext cx="548640" cy="237744"/>
          </a:xfrm>
          <a:prstGeom prst="rect">
            <a:avLst/>
          </a:prstGeom>
          <a:solidFill>
            <a:srgbClr val="008944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8732520" y="5669280"/>
            <a:ext cx="548640" cy="237744"/>
          </a:xfrm>
          <a:prstGeom prst="rect">
            <a:avLst/>
          </a:prstGeom>
          <a:solidFill>
            <a:srgbClr val="00D068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9601200" y="4297680"/>
            <a:ext cx="2103120" cy="50292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9646920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"The" and "the"
have similar vectors!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74320" y="5669280"/>
            <a:ext cx="5486400" cy="10058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572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ONE-HOT (sparse)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5989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(6, 50000)
99.99% zeros
No similarity info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217920" y="5669280"/>
            <a:ext cx="5669280" cy="10058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4008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EMBEDDING (dense)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400800" y="5989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(6, 768)
All values meaningful
Similar words = similar vectors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2D Tensor (Matrix) Deep Dive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matrix has ROWS and COLUMNS - like a spreadsheet. Let's explore it thoroughly.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2D TENSOR: EMBEDDING MATRIX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1828800"/>
            <a:ext cx="6400800" cy="475488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8016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COLUMNS (Embedding Dimensions) &gt;&gt;&gt;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2743200"/>
            <a:ext cx="502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ROWS
(Tokens)
|
|
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219456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29967" y="219456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79776" y="219456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9584" y="219456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219456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19456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25603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2560320"/>
            <a:ext cx="713232" cy="438912"/>
          </a:xfrm>
          <a:prstGeom prst="rect">
            <a:avLst/>
          </a:prstGeom>
          <a:solidFill>
            <a:srgbClr val="00A251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80160" y="256032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29967" y="2560320"/>
            <a:ext cx="713232" cy="438912"/>
          </a:xfrm>
          <a:prstGeom prst="rect">
            <a:avLst/>
          </a:prstGeom>
          <a:solidFill>
            <a:srgbClr val="007339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29967" y="256032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-0.34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79776" y="2560320"/>
            <a:ext cx="713232" cy="438912"/>
          </a:xfrm>
          <a:prstGeom prst="rect">
            <a:avLst/>
          </a:prstGeom>
          <a:solidFill>
            <a:srgbClr val="00CE67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779776" y="256032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+0.56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9584" y="2560320"/>
            <a:ext cx="713232" cy="438912"/>
          </a:xfrm>
          <a:prstGeom prst="rect">
            <a:avLst/>
          </a:prstGeom>
          <a:solidFill>
            <a:srgbClr val="00E472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9584" y="256032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+0.78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79392" y="2560320"/>
            <a:ext cx="713232" cy="438912"/>
          </a:xfrm>
          <a:prstGeom prst="rect">
            <a:avLst/>
          </a:prstGeom>
          <a:solidFill>
            <a:srgbClr val="008B45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279392" y="256032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0" y="2560320"/>
            <a:ext cx="713232" cy="438912"/>
          </a:xfrm>
          <a:prstGeom prst="rect">
            <a:avLst/>
          </a:prstGeom>
          <a:solidFill>
            <a:srgbClr val="00C261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029200" y="256032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+0.44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306323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80160" y="3063239"/>
            <a:ext cx="713232" cy="438912"/>
          </a:xfrm>
          <a:prstGeom prst="rect">
            <a:avLst/>
          </a:prstGeom>
          <a:solidFill>
            <a:srgbClr val="00F178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280160" y="3063239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+0.91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29967" y="3063239"/>
            <a:ext cx="713232" cy="438912"/>
          </a:xfrm>
          <a:prstGeom prst="rect">
            <a:avLst/>
          </a:prstGeom>
          <a:solidFill>
            <a:srgbClr val="007F3F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29967" y="3063239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-0.23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79776" y="3063239"/>
            <a:ext cx="713232" cy="438912"/>
          </a:xfrm>
          <a:prstGeom prst="rect">
            <a:avLst/>
          </a:prstGeom>
          <a:solidFill>
            <a:srgbClr val="00C361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79776" y="3063239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+0.45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29584" y="3063239"/>
            <a:ext cx="713232" cy="438912"/>
          </a:xfrm>
          <a:prstGeom prst="rect">
            <a:avLst/>
          </a:prstGeom>
          <a:solidFill>
            <a:srgbClr val="005329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529584" y="3063239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79392" y="3063239"/>
            <a:ext cx="713232" cy="438912"/>
          </a:xfrm>
          <a:prstGeom prst="rect">
            <a:avLst/>
          </a:prstGeom>
          <a:solidFill>
            <a:srgbClr val="00B75B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279392" y="3063239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+0.33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063239"/>
            <a:ext cx="713232" cy="438912"/>
          </a:xfrm>
          <a:prstGeom prst="rect">
            <a:avLst/>
          </a:prstGeom>
          <a:solidFill>
            <a:srgbClr val="008A45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029200" y="3063239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35661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80160" y="3566160"/>
            <a:ext cx="713232" cy="438912"/>
          </a:xfrm>
          <a:prstGeom prst="rect">
            <a:avLst/>
          </a:prstGeom>
          <a:solidFill>
            <a:srgbClr val="008743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280160" y="356616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29967" y="3566160"/>
            <a:ext cx="713232" cy="438912"/>
          </a:xfrm>
          <a:prstGeom prst="rect">
            <a:avLst/>
          </a:prstGeom>
          <a:solidFill>
            <a:srgbClr val="00E773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029967" y="356616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+0.82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79776" y="3566160"/>
            <a:ext cx="713232" cy="438912"/>
          </a:xfrm>
          <a:prstGeom prst="rect">
            <a:avLst/>
          </a:prstGeom>
          <a:solidFill>
            <a:srgbClr val="007038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779776" y="356616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-0.38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29584" y="3566160"/>
            <a:ext cx="713232" cy="438912"/>
          </a:xfrm>
          <a:prstGeom prst="rect">
            <a:avLst/>
          </a:prstGeom>
          <a:solidFill>
            <a:srgbClr val="00A452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529584" y="356616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+0.14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79392" y="3566160"/>
            <a:ext cx="713232" cy="438912"/>
          </a:xfrm>
          <a:prstGeom prst="rect">
            <a:avLst/>
          </a:prstGeom>
          <a:solidFill>
            <a:srgbClr val="00D96C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279392" y="356616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+0.67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0" y="3566160"/>
            <a:ext cx="713232" cy="438912"/>
          </a:xfrm>
          <a:prstGeom prst="rect">
            <a:avLst/>
          </a:prstGeom>
          <a:solidFill>
            <a:srgbClr val="00B359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29200" y="356616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+0.29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4069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280160" y="4069080"/>
            <a:ext cx="713232" cy="438912"/>
          </a:xfrm>
          <a:prstGeom prst="rect">
            <a:avLst/>
          </a:prstGeom>
          <a:solidFill>
            <a:srgbClr val="00B75B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280160" y="406908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+0.33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29967" y="4069080"/>
            <a:ext cx="713232" cy="438912"/>
          </a:xfrm>
          <a:prstGeom prst="rect">
            <a:avLst/>
          </a:prstGeom>
          <a:solidFill>
            <a:srgbClr val="005F2F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029967" y="406908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-0.55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79776" y="4069080"/>
            <a:ext cx="713232" cy="438912"/>
          </a:xfrm>
          <a:prstGeom prst="rect">
            <a:avLst/>
          </a:prstGeom>
          <a:solidFill>
            <a:srgbClr val="00DD6E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779776" y="406908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+0.71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29584" y="4069080"/>
            <a:ext cx="713232" cy="438912"/>
          </a:xfrm>
          <a:prstGeom prst="rect">
            <a:avLst/>
          </a:prstGeom>
          <a:solidFill>
            <a:srgbClr val="008D4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529584" y="406908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79392" y="4069080"/>
            <a:ext cx="713232" cy="438912"/>
          </a:xfrm>
          <a:prstGeom prst="rect">
            <a:avLst/>
          </a:prstGeom>
          <a:solidFill>
            <a:srgbClr val="006C3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279392" y="406908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-0.42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0" y="4069080"/>
            <a:ext cx="713232" cy="438912"/>
          </a:xfrm>
          <a:prstGeom prst="rect">
            <a:avLst/>
          </a:prstGeom>
          <a:solidFill>
            <a:srgbClr val="00EE77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029200" y="406908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+0.88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4572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280160" y="4572000"/>
            <a:ext cx="713232" cy="438912"/>
          </a:xfrm>
          <a:prstGeom prst="rect">
            <a:avLst/>
          </a:prstGeom>
          <a:solidFill>
            <a:srgbClr val="00A150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280160" y="457200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+0.11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29967" y="4572000"/>
            <a:ext cx="713232" cy="438912"/>
          </a:xfrm>
          <a:prstGeom prst="rect">
            <a:avLst/>
          </a:prstGeom>
          <a:solidFill>
            <a:srgbClr val="00753A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029967" y="457200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79776" y="4572000"/>
            <a:ext cx="713232" cy="438912"/>
          </a:xfrm>
          <a:prstGeom prst="rect">
            <a:avLst/>
          </a:prstGeom>
          <a:solidFill>
            <a:srgbClr val="00CD6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779776" y="457200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+0.55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29584" y="4572000"/>
            <a:ext cx="713232" cy="438912"/>
          </a:xfrm>
          <a:prstGeom prst="rect">
            <a:avLst/>
          </a:prstGeom>
          <a:solidFill>
            <a:srgbClr val="00E371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529584" y="457200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+0.77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79392" y="4572000"/>
            <a:ext cx="713232" cy="438912"/>
          </a:xfrm>
          <a:prstGeom prst="rect">
            <a:avLst/>
          </a:prstGeom>
          <a:solidFill>
            <a:srgbClr val="008C4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279392" y="457200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029200" y="4572000"/>
            <a:ext cx="713232" cy="438912"/>
          </a:xfrm>
          <a:prstGeom prst="rect">
            <a:avLst/>
          </a:prstGeom>
          <a:solidFill>
            <a:srgbClr val="00C160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029200" y="4572000"/>
            <a:ext cx="713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+0.43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(5, 6)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5394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(rows, columns) = (tokens, dimensions)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243584" y="3063239"/>
            <a:ext cx="4535424" cy="438912"/>
          </a:xfrm>
          <a:prstGeom prst="rect">
            <a:avLst/>
          </a:prstGeom>
          <a:solidFill>
            <a:srgbClr val="000000"/>
          </a:solidFill>
          <a:ln w="317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457200" y="5760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 1 = embedding for "cat"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94944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ACCESSING ELEMENTS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949440" y="1920240"/>
            <a:ext cx="4846320" cy="8686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949440" y="1920240"/>
            <a:ext cx="109728" cy="8686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205472" y="202996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tensor[0]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05472" y="2395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[0.12, -0.34, 0.56, 0.78, -0.11, 0.44]
Entire row 0 ("The" embedding)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949440" y="2926080"/>
            <a:ext cx="4846320" cy="86868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6949440" y="2926080"/>
            <a:ext cx="109728" cy="86868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205472" y="30358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tensor[1, 3]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05472" y="34015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-0.67
Single value: "cat", dimension 3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949440" y="3931920"/>
            <a:ext cx="4846320" cy="86868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6949440" y="3931920"/>
            <a:ext cx="109728" cy="8686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7205472" y="404164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tensor[:, 0]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205472" y="44074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[0.12, 0.91, -0.15, 0.33, 0.11]
Entire column 0 (dim_0 for all tokens)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949440" y="4937760"/>
            <a:ext cx="4846320" cy="86868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6949440" y="4937760"/>
            <a:ext cx="109728" cy="86868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7205472" y="504748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tensor[1:3]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205472" y="54132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[[0.91,...], [-0.15,...]]
Rows 1-2 ("cat" and "sat")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949440" y="5943600"/>
            <a:ext cx="4846320" cy="86868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6949440" y="5943600"/>
            <a:ext cx="109728" cy="86868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7205472" y="605332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tensor.shape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205472" y="64190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(5, 6)
5 rows x 6 columns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Weights and Biases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learnable parameters that give a neural network its intelligence.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645920"/>
            <a:ext cx="3474720" cy="237744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645920"/>
            <a:ext cx="347472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1645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</a:t>
            </a:r>
          </a:p>
        </p:txBody>
      </p:sp>
      <p:sp>
        <p:nvSpPr>
          <p:cNvPr id="43" name="Oval 42"/>
          <p:cNvSpPr/>
          <p:nvPr/>
        </p:nvSpPr>
        <p:spPr>
          <a:xfrm>
            <a:off x="1536192" y="2286000"/>
            <a:ext cx="1133856" cy="1133856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36192" y="235915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54787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" y="4187952"/>
            <a:ext cx="3218688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connection has a weight.
Large weight = strong signal.
Small weight = weak signal.
Negative = inhibitory.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06240" y="1645920"/>
            <a:ext cx="3474720" cy="237744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206240" y="1645920"/>
            <a:ext cx="347472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206240" y="1645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</a:t>
            </a:r>
          </a:p>
        </p:txBody>
      </p:sp>
      <p:sp>
        <p:nvSpPr>
          <p:cNvPr id="50" name="Oval 49"/>
          <p:cNvSpPr/>
          <p:nvPr/>
        </p:nvSpPr>
        <p:spPr>
          <a:xfrm>
            <a:off x="5376672" y="2286000"/>
            <a:ext cx="1133856" cy="113385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76672" y="235915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354787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34256" y="4187952"/>
            <a:ext cx="3218688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extra value added before
the activation function.
Lets the neuron shift its
decision boundary.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1645920"/>
            <a:ext cx="3749039" cy="237744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046720" y="1645920"/>
            <a:ext cx="3749039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46720" y="164592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</a:t>
            </a:r>
          </a:p>
        </p:txBody>
      </p:sp>
      <p:sp>
        <p:nvSpPr>
          <p:cNvPr id="57" name="Oval 56"/>
          <p:cNvSpPr/>
          <p:nvPr/>
        </p:nvSpPr>
        <p:spPr>
          <a:xfrm>
            <a:off x="9354311" y="2286000"/>
            <a:ext cx="1133856" cy="113385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354311" y="235915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354787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WEIGHTED SUM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4736" y="4187952"/>
            <a:ext cx="3493007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w1*x1 + w2*x2 + ... + bias
This single number captures
how 'activated' the neuron
should be.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37743" y="4870577"/>
            <a:ext cx="11430000" cy="1990598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2004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 EXAMPLE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 = 0.5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 = 0.8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5669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x3 = 0.2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7744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26080" y="4846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2608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 = 0.4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8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w2 = 0.6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0" y="5669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w3 = -0.3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1208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Bias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1208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= 0.1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Weighted Sum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6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(0.5)(0.4) + (0.8)(0.6) + (0.2)(-0.3) + 0.1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376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0.20 + 0.48 - 0.06 + 0.10 = 0.72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Activation Functions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Non-linear functions that allow neural networks to learn complex patterns.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5669280" cy="10058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0584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Activation Functions?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Without them, any neural network would just be a linear function (y = mx + b)
regardless of depth. Activation functions add the 'curves' that let NNs fit complex data.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74320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5760" y="2743200"/>
            <a:ext cx="274320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5760" y="27432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SIGMOID</a:t>
            </a:r>
          </a:p>
        </p:txBody>
      </p:sp>
      <p:sp>
        <p:nvSpPr>
          <p:cNvPr id="47" name="Oval 46"/>
          <p:cNvSpPr/>
          <p:nvPr/>
        </p:nvSpPr>
        <p:spPr>
          <a:xfrm>
            <a:off x="585216" y="4329483"/>
            <a:ext cx="109728" cy="10972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877824" y="4313246"/>
            <a:ext cx="109728" cy="10972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9" name="Connector 48"/>
          <p:cNvCxnSpPr/>
          <p:nvPr/>
        </p:nvCxnSpPr>
        <p:spPr>
          <a:xfrm flipV="1">
            <a:off x="640080" y="4368110"/>
            <a:ext cx="292608" cy="16237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170432" y="4247069"/>
            <a:ext cx="109728" cy="10972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1" name="Connector 50"/>
          <p:cNvCxnSpPr/>
          <p:nvPr/>
        </p:nvCxnSpPr>
        <p:spPr>
          <a:xfrm flipV="1">
            <a:off x="932688" y="4301933"/>
            <a:ext cx="292608" cy="66177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463040" y="4040898"/>
            <a:ext cx="109728" cy="10972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3" name="Connector 52"/>
          <p:cNvCxnSpPr/>
          <p:nvPr/>
        </p:nvCxnSpPr>
        <p:spPr>
          <a:xfrm flipV="1">
            <a:off x="1225296" y="4095762"/>
            <a:ext cx="292608" cy="206171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755648" y="3713215"/>
            <a:ext cx="109728" cy="10972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5" name="Connector 54"/>
          <p:cNvCxnSpPr/>
          <p:nvPr/>
        </p:nvCxnSpPr>
        <p:spPr>
          <a:xfrm flipV="1">
            <a:off x="1517904" y="3768079"/>
            <a:ext cx="292608" cy="327683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2048256" y="3507044"/>
            <a:ext cx="109728" cy="10972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7" name="Connector 56"/>
          <p:cNvCxnSpPr/>
          <p:nvPr/>
        </p:nvCxnSpPr>
        <p:spPr>
          <a:xfrm flipV="1">
            <a:off x="1810512" y="3561908"/>
            <a:ext cx="292608" cy="206171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340863" y="3440867"/>
            <a:ext cx="109728" cy="10972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9" name="Connector 58"/>
          <p:cNvCxnSpPr/>
          <p:nvPr/>
        </p:nvCxnSpPr>
        <p:spPr>
          <a:xfrm flipV="1">
            <a:off x="2103120" y="3495731"/>
            <a:ext cx="292607" cy="66177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2633472" y="3424630"/>
            <a:ext cx="109728" cy="10972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1" name="Connector 60"/>
          <p:cNvCxnSpPr/>
          <p:nvPr/>
        </p:nvCxnSpPr>
        <p:spPr>
          <a:xfrm flipV="1">
            <a:off x="2395727" y="3479494"/>
            <a:ext cx="292609" cy="16237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57200" y="47091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Range: 0 to 1
Smooth S-curve
Used in binary classification
f(x) = 1 / (1 + e^-x)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91840" y="274320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291840" y="2743200"/>
            <a:ext cx="274320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291840" y="27432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ReLU</a:t>
            </a:r>
          </a:p>
        </p:txBody>
      </p:sp>
      <p:sp>
        <p:nvSpPr>
          <p:cNvPr id="66" name="Oval 65"/>
          <p:cNvSpPr/>
          <p:nvPr/>
        </p:nvSpPr>
        <p:spPr>
          <a:xfrm>
            <a:off x="3511296" y="4334256"/>
            <a:ext cx="109728" cy="10972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803904" y="4334256"/>
            <a:ext cx="109728" cy="10972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3566160" y="4389120"/>
            <a:ext cx="292608" cy="0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096512" y="4334256"/>
            <a:ext cx="109728" cy="10972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3858768" y="4389120"/>
            <a:ext cx="292608" cy="0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389120" y="4334256"/>
            <a:ext cx="109728" cy="10972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4151376" y="4389120"/>
            <a:ext cx="292608" cy="0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4681728" y="4197096"/>
            <a:ext cx="109728" cy="10972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4" name="Connector 73"/>
          <p:cNvCxnSpPr/>
          <p:nvPr/>
        </p:nvCxnSpPr>
        <p:spPr>
          <a:xfrm flipV="1">
            <a:off x="4443984" y="4251960"/>
            <a:ext cx="292608" cy="137160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974336" y="3922777"/>
            <a:ext cx="109728" cy="10972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6" name="Connector 75"/>
          <p:cNvCxnSpPr/>
          <p:nvPr/>
        </p:nvCxnSpPr>
        <p:spPr>
          <a:xfrm flipV="1">
            <a:off x="4736592" y="3977641"/>
            <a:ext cx="292608" cy="274319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266943" y="3648456"/>
            <a:ext cx="109728" cy="10972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8" name="Connector 77"/>
          <p:cNvCxnSpPr/>
          <p:nvPr/>
        </p:nvCxnSpPr>
        <p:spPr>
          <a:xfrm flipV="1">
            <a:off x="5029200" y="3703320"/>
            <a:ext cx="292607" cy="274321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559552" y="3374136"/>
            <a:ext cx="109728" cy="10972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0" name="Connector 79"/>
          <p:cNvCxnSpPr/>
          <p:nvPr/>
        </p:nvCxnSpPr>
        <p:spPr>
          <a:xfrm flipV="1">
            <a:off x="5321807" y="3429000"/>
            <a:ext cx="292609" cy="274320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383280" y="47091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Range: 0 to inf
Simple: max(0, x)
Most popular choice
Fast to compute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0" y="274320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217920" y="2743200"/>
            <a:ext cx="2743200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17920" y="27432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TANH</a:t>
            </a:r>
          </a:p>
        </p:txBody>
      </p:sp>
      <p:sp>
        <p:nvSpPr>
          <p:cNvPr id="85" name="Oval 84"/>
          <p:cNvSpPr/>
          <p:nvPr/>
        </p:nvSpPr>
        <p:spPr>
          <a:xfrm>
            <a:off x="6437376" y="4333422"/>
            <a:ext cx="109728" cy="109728"/>
          </a:xfrm>
          <a:prstGeom prst="ellipse">
            <a:avLst/>
          </a:prstGeom>
          <a:solidFill>
            <a:srgbClr val="A85CFF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6729984" y="4328136"/>
            <a:ext cx="109728" cy="109728"/>
          </a:xfrm>
          <a:prstGeom prst="ellipse">
            <a:avLst/>
          </a:prstGeom>
          <a:solidFill>
            <a:srgbClr val="A85CFF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7" name="Connector 86"/>
          <p:cNvCxnSpPr/>
          <p:nvPr/>
        </p:nvCxnSpPr>
        <p:spPr>
          <a:xfrm flipV="1">
            <a:off x="6492240" y="4383000"/>
            <a:ext cx="292608" cy="5286"/>
          </a:xfrm>
          <a:prstGeom prst="line">
            <a:avLst/>
          </a:prstGeom>
          <a:ln w="127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022592" y="4290889"/>
            <a:ext cx="109728" cy="109728"/>
          </a:xfrm>
          <a:prstGeom prst="ellipse">
            <a:avLst/>
          </a:prstGeom>
          <a:solidFill>
            <a:srgbClr val="A85CFF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9" name="Connector 88"/>
          <p:cNvCxnSpPr/>
          <p:nvPr/>
        </p:nvCxnSpPr>
        <p:spPr>
          <a:xfrm flipV="1">
            <a:off x="6784848" y="4345753"/>
            <a:ext cx="292608" cy="37247"/>
          </a:xfrm>
          <a:prstGeom prst="line">
            <a:avLst/>
          </a:prstGeom>
          <a:ln w="127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7315200" y="4088335"/>
            <a:ext cx="109728" cy="109728"/>
          </a:xfrm>
          <a:prstGeom prst="ellipse">
            <a:avLst/>
          </a:prstGeom>
          <a:solidFill>
            <a:srgbClr val="A85CFF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1" name="Connector 90"/>
          <p:cNvCxnSpPr/>
          <p:nvPr/>
        </p:nvCxnSpPr>
        <p:spPr>
          <a:xfrm flipV="1">
            <a:off x="7077456" y="4143199"/>
            <a:ext cx="292608" cy="202554"/>
          </a:xfrm>
          <a:prstGeom prst="line">
            <a:avLst/>
          </a:prstGeom>
          <a:ln w="127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7607808" y="3665777"/>
            <a:ext cx="109728" cy="109728"/>
          </a:xfrm>
          <a:prstGeom prst="ellipse">
            <a:avLst/>
          </a:prstGeom>
          <a:solidFill>
            <a:srgbClr val="A85CFF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3" name="Connector 92"/>
          <p:cNvCxnSpPr/>
          <p:nvPr/>
        </p:nvCxnSpPr>
        <p:spPr>
          <a:xfrm flipV="1">
            <a:off x="7370064" y="3720641"/>
            <a:ext cx="292608" cy="422558"/>
          </a:xfrm>
          <a:prstGeom prst="line">
            <a:avLst/>
          </a:prstGeom>
          <a:ln w="127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7900416" y="3463223"/>
            <a:ext cx="109728" cy="109728"/>
          </a:xfrm>
          <a:prstGeom prst="ellipse">
            <a:avLst/>
          </a:prstGeom>
          <a:solidFill>
            <a:srgbClr val="A85CFF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5" name="Connector 94"/>
          <p:cNvCxnSpPr/>
          <p:nvPr/>
        </p:nvCxnSpPr>
        <p:spPr>
          <a:xfrm flipV="1">
            <a:off x="7662672" y="3518087"/>
            <a:ext cx="292608" cy="202554"/>
          </a:xfrm>
          <a:prstGeom prst="line">
            <a:avLst/>
          </a:prstGeom>
          <a:ln w="127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8193023" y="3425976"/>
            <a:ext cx="109728" cy="109728"/>
          </a:xfrm>
          <a:prstGeom prst="ellipse">
            <a:avLst/>
          </a:prstGeom>
          <a:solidFill>
            <a:srgbClr val="A85CFF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7" name="Connector 96"/>
          <p:cNvCxnSpPr/>
          <p:nvPr/>
        </p:nvCxnSpPr>
        <p:spPr>
          <a:xfrm flipV="1">
            <a:off x="7955280" y="3480840"/>
            <a:ext cx="292607" cy="37247"/>
          </a:xfrm>
          <a:prstGeom prst="line">
            <a:avLst/>
          </a:prstGeom>
          <a:ln w="127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8485632" y="3420690"/>
            <a:ext cx="109728" cy="109728"/>
          </a:xfrm>
          <a:prstGeom prst="ellipse">
            <a:avLst/>
          </a:prstGeom>
          <a:solidFill>
            <a:srgbClr val="A85CFF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9" name="Connector 98"/>
          <p:cNvCxnSpPr/>
          <p:nvPr/>
        </p:nvCxnSpPr>
        <p:spPr>
          <a:xfrm flipV="1">
            <a:off x="8247887" y="3475554"/>
            <a:ext cx="292609" cy="5286"/>
          </a:xfrm>
          <a:prstGeom prst="line">
            <a:avLst/>
          </a:prstGeom>
          <a:ln w="127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309360" y="47091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Range: -1 to 1
Like Sigmoid, centered
Used in RNNs
f(x) = (e^x - e^-x)/(e^x + e^-x)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0" y="274320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144000" y="2743200"/>
            <a:ext cx="2743200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144000" y="27432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SOFTMAX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418320" y="4325113"/>
            <a:ext cx="320040" cy="64007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9875520" y="4261105"/>
            <a:ext cx="320040" cy="128015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332720" y="3493009"/>
            <a:ext cx="320040" cy="896111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0789920" y="4261105"/>
            <a:ext cx="320040" cy="128015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1247120" y="4325113"/>
            <a:ext cx="320040" cy="64007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235440" y="47091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Range: 0 to 1 (all sum to 1)
Used for multi-class output
Converts scores to
probabilities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Propagation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flows left to right through the network to produce a prediction.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274320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14630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</a:t>
            </a:r>
          </a:p>
        </p:txBody>
      </p:sp>
      <p:sp>
        <p:nvSpPr>
          <p:cNvPr id="43" name="Oval 42"/>
          <p:cNvSpPr/>
          <p:nvPr/>
        </p:nvSpPr>
        <p:spPr>
          <a:xfrm>
            <a:off x="1170432" y="2103120"/>
            <a:ext cx="1133856" cy="1133856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7043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60" y="3790795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 raw data into
the input layer.
Each feature maps
to one neuron.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1840" y="14630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91840" y="1463040"/>
            <a:ext cx="274320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91840" y="14630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</a:t>
            </a:r>
          </a:p>
        </p:txBody>
      </p:sp>
      <p:sp>
        <p:nvSpPr>
          <p:cNvPr id="51" name="Oval 50"/>
          <p:cNvSpPr/>
          <p:nvPr/>
        </p:nvSpPr>
        <p:spPr>
          <a:xfrm>
            <a:off x="4096512" y="2103120"/>
            <a:ext cx="1133856" cy="113385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9651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01568" y="3830552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input is
multiplied by its
weight and summed
with a bias.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14630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17920" y="1463040"/>
            <a:ext cx="2743200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17920" y="14630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</a:t>
            </a:r>
          </a:p>
        </p:txBody>
      </p:sp>
      <p:sp>
        <p:nvSpPr>
          <p:cNvPr id="59" name="Oval 58"/>
          <p:cNvSpPr/>
          <p:nvPr/>
        </p:nvSpPr>
        <p:spPr>
          <a:xfrm>
            <a:off x="7022592" y="2103120"/>
            <a:ext cx="1133856" cy="113385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2259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f(z)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45936" y="3819818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the sum
through an activation
function to add
non-linearity.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0" y="14630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144000" y="1463040"/>
            <a:ext cx="2743200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144000" y="14630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4</a:t>
            </a:r>
          </a:p>
        </p:txBody>
      </p:sp>
      <p:sp>
        <p:nvSpPr>
          <p:cNvPr id="67" name="Oval 66"/>
          <p:cNvSpPr/>
          <p:nvPr/>
        </p:nvSpPr>
        <p:spPr>
          <a:xfrm>
            <a:off x="9948672" y="2103120"/>
            <a:ext cx="1133856" cy="1133856"/>
          </a:xfrm>
          <a:prstGeom prst="ellipse">
            <a:avLst/>
          </a:prstGeom>
          <a:solidFill>
            <a:srgbClr val="321406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948672" y="21762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2016" y="3813048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Repeat for each
layer until the
final output layer
produces the result.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60" y="5029200"/>
            <a:ext cx="11430000" cy="146304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4864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FORWARD PASS FORMULA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440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output  =  Activation( Weights x Input + Bias 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= f(Wx + b)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5440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formula is applied at every layer, transforming the data step by step.
The output of one layer becomes the input to the next.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a Network Makes Predictions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 classifying a handwritten digit through layers of computation.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2743200" cy="493776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2743200" cy="4114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1: IMAGE INPUT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2103120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8992" y="2103120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426464" y="2103120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773936" y="2103120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121408" y="2103120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31520" y="2450591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78992" y="2450591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426464" y="2450591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773936" y="2450591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121408" y="2450591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1520" y="2798063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78992" y="2798063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26464" y="2798063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773936" y="2798063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121408" y="2798063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31520" y="3145536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078992" y="3145536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426464" y="3145536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773936" y="3145536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121408" y="3145536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31520" y="3493008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078992" y="3493008"/>
            <a:ext cx="310896" cy="310896"/>
          </a:xfrm>
          <a:prstGeom prst="rect">
            <a:avLst/>
          </a:prstGeom>
          <a:solidFill>
            <a:srgbClr val="00E0FF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426464" y="3493008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773936" y="3493008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121408" y="3493008"/>
            <a:ext cx="310896" cy="310896"/>
          </a:xfrm>
          <a:prstGeom prst="rect">
            <a:avLst/>
          </a:prstGeom>
          <a:solidFill>
            <a:srgbClr val="182844"/>
          </a:solidFill>
          <a:ln w="6350">
            <a:solidFill>
              <a:srgbClr val="0B1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48640" y="4114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28 x 28 pixels become
784 input numbers
(0.0 = black, 1.0 = white)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029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pixel intensity is
a feature fed to the
input layer.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383280" y="1463040"/>
            <a:ext cx="2743200" cy="493776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383280" y="1463040"/>
            <a:ext cx="2743200" cy="41148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38328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2: HIDDEN LAYERS</a:t>
            </a:r>
          </a:p>
        </p:txBody>
      </p:sp>
      <p:sp>
        <p:nvSpPr>
          <p:cNvPr id="73" name="Oval 72"/>
          <p:cNvSpPr/>
          <p:nvPr/>
        </p:nvSpPr>
        <p:spPr>
          <a:xfrm>
            <a:off x="4370832" y="2084832"/>
            <a:ext cx="768096" cy="76809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65760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 &amp;
Corners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57800" y="2286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 &amp;
Corners</a:t>
            </a:r>
          </a:p>
        </p:txBody>
      </p:sp>
      <p:sp>
        <p:nvSpPr>
          <p:cNvPr id="76" name="Oval 75"/>
          <p:cNvSpPr/>
          <p:nvPr/>
        </p:nvSpPr>
        <p:spPr>
          <a:xfrm>
            <a:off x="4370832" y="3273552"/>
            <a:ext cx="768096" cy="76809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65760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8C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Shapes &amp;
Curves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57800" y="34747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Shapes &amp;
Curves</a:t>
            </a:r>
          </a:p>
        </p:txBody>
      </p:sp>
      <p:sp>
        <p:nvSpPr>
          <p:cNvPr id="79" name="Oval 78"/>
          <p:cNvSpPr/>
          <p:nvPr/>
        </p:nvSpPr>
        <p:spPr>
          <a:xfrm>
            <a:off x="4370832" y="4462272"/>
            <a:ext cx="768096" cy="76809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65760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Digit
Patterns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57800" y="4663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Digit
Patterns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66160" y="5303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layer detects
progressively more
complex patterns.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0" y="1463040"/>
            <a:ext cx="2743200" cy="493776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400800" y="1463040"/>
            <a:ext cx="2743200" cy="4114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40080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3: OUTPUT SCORES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0" y="20116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49440" y="2084832"/>
            <a:ext cx="18288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059168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0" y="23957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49440" y="2468880"/>
            <a:ext cx="36576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077456" y="23957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27797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49440" y="2852928"/>
            <a:ext cx="54864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095744" y="2779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3680" y="31638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49440" y="3236976"/>
            <a:ext cx="18288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059168" y="31638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83680" y="3547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49440" y="3621024"/>
            <a:ext cx="36576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077456" y="35478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3931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49440" y="4005072"/>
            <a:ext cx="18288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059168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0" y="43159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949440" y="4389120"/>
            <a:ext cx="54864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095744" y="43159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83680" y="47000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49440" y="4773168"/>
            <a:ext cx="1554480" cy="18288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595360" y="47000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83680" y="50840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49440" y="5157216"/>
            <a:ext cx="18288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059168" y="5084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83680" y="54681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949440" y="5541264"/>
            <a:ext cx="18288" cy="1828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059168" y="54681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1%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418320" y="1463040"/>
            <a:ext cx="2468880" cy="493776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9418320" y="1463040"/>
            <a:ext cx="2468880" cy="41148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9418320" y="1463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4: PREDICTION</a:t>
            </a:r>
          </a:p>
        </p:txBody>
      </p:sp>
      <p:sp>
        <p:nvSpPr>
          <p:cNvPr id="119" name="Oval 118"/>
          <p:cNvSpPr/>
          <p:nvPr/>
        </p:nvSpPr>
        <p:spPr>
          <a:xfrm>
            <a:off x="9921240" y="2560320"/>
            <a:ext cx="1463040" cy="1463040"/>
          </a:xfrm>
          <a:prstGeom prst="ellipse">
            <a:avLst/>
          </a:prstGeom>
          <a:solidFill>
            <a:srgbClr val="321406"/>
          </a:solidFill>
          <a:ln w="381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921240" y="27432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4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0120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Prediction: 7
Confidence: 85%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01200" y="5029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network picks the
class with the highest
probability score.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06324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8076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9828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Functions: Measuring Error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loss function tells the network how wrong its predictions are.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5486400" cy="10058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0584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Loss?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number that measures the difference between the network's prediction
and the correct answer. The goal of training: minimize this number.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743200"/>
            <a:ext cx="3657600" cy="3200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5760" y="2743200"/>
            <a:ext cx="3657600" cy="50292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" y="2743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MSE
(Mean Squared Error)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337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regression tasks.
Squares the difference
between prediction and
actual value.
Loss = (y - y_hat)^2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80" y="2743200"/>
            <a:ext cx="3657600" cy="32004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297680" y="2743200"/>
            <a:ext cx="3657600" cy="50292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389120" y="2743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CROSS-ENTROPY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3337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classification tasks.
Measures how different
the predicted probability
distribution is from truth.
Loss = -log(p_correct)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2743200"/>
            <a:ext cx="3657600" cy="320040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229600" y="2743200"/>
            <a:ext cx="3657600" cy="50292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321040" y="2743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BINARY
CROSS-ENTROPY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337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yes/no decisions.
Special case of cross-entropy
with only two classes.
Loss = -[y*log(p) +
  (1-y)*log(1-p)]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1463040"/>
            <a:ext cx="5577840" cy="100584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17920" y="1463040"/>
            <a:ext cx="109728" cy="100584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73952" y="15727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Insight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952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Lower loss = better predictions. Training is essentially an optimization
problem: find the weights and biases that minimize the loss function.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Gradient Descent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algorithm that trains neural networks by following the slope downhill.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5303520" cy="10972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972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Core Idea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you're blindfolded on a hilly landscape and want to reach the lowest
point. You feel the slope under your feet and take a step downhill. Repeat.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834640"/>
            <a:ext cx="2743200" cy="164592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COMPUTE 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3291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forward pass,
compare output
to true answer.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1840" y="2834640"/>
            <a:ext cx="2743200" cy="164592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42900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FIND GRADIENT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3291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Calculate the slope
of loss with respect
to each weight.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2834640"/>
            <a:ext cx="2743200" cy="164592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5508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UPDATE WEIGHTS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291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Move each weight
a small step in the
direction that
reduces loss.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2834640"/>
            <a:ext cx="2743200" cy="164592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28116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REPEAT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81160" y="3291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 this for thousands
of examples until
loss is minimized.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" y="4846320"/>
            <a:ext cx="11430000" cy="173736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864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LANDSCAPE VISUALIZATION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400" y="5212080"/>
            <a:ext cx="502920" cy="208484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417320" y="5420564"/>
            <a:ext cx="502920" cy="18653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920240" y="5607101"/>
            <a:ext cx="502920" cy="16459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423160" y="5771693"/>
            <a:ext cx="502920" cy="14264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926080" y="5914340"/>
            <a:ext cx="502920" cy="120700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429000" y="6035040"/>
            <a:ext cx="502920" cy="98756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931920" y="6133796"/>
            <a:ext cx="502920" cy="76809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434840" y="6210605"/>
            <a:ext cx="502920" cy="54864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937760" y="6265469"/>
            <a:ext cx="502920" cy="32919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440680" y="6298388"/>
            <a:ext cx="502920" cy="1097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943600" y="6298388"/>
            <a:ext cx="502920" cy="1097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446520" y="6265469"/>
            <a:ext cx="502920" cy="32919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49440" y="6210605"/>
            <a:ext cx="502920" cy="54864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452360" y="6133796"/>
            <a:ext cx="502920" cy="76809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955280" y="6035040"/>
            <a:ext cx="502920" cy="98756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458200" y="5914340"/>
            <a:ext cx="502920" cy="120700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961120" y="5771693"/>
            <a:ext cx="502920" cy="14264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464040" y="5607101"/>
            <a:ext cx="502920" cy="16459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966960" y="5420564"/>
            <a:ext cx="502920" cy="18653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2331720" y="5570525"/>
            <a:ext cx="182880" cy="182880"/>
          </a:xfrm>
          <a:prstGeom prst="ellipse">
            <a:avLst/>
          </a:prstGeom>
          <a:solidFill>
            <a:srgbClr val="FF3D8E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3337560" y="5833872"/>
            <a:ext cx="182880" cy="182880"/>
          </a:xfrm>
          <a:prstGeom prst="ellipse">
            <a:avLst/>
          </a:prstGeom>
          <a:solidFill>
            <a:srgbClr val="A85CFF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4846320" y="6064301"/>
            <a:ext cx="182880" cy="182880"/>
          </a:xfrm>
          <a:prstGeom prst="ellipse">
            <a:avLst/>
          </a:prstGeom>
          <a:solidFill>
            <a:srgbClr val="00FFA0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5852160" y="6108192"/>
            <a:ext cx="182880" cy="182880"/>
          </a:xfrm>
          <a:prstGeom prst="ellipse">
            <a:avLst/>
          </a:prstGeom>
          <a:solidFill>
            <a:srgbClr val="00E0FF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371600" y="5166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(high loss)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352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Minimum (low loss)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w_new = w_old - learning_rate x gradient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step moves weights toward lower loss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Backpropagation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chain rule applied layer by layer to compute gradients efficiently.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11430000" cy="10972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972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Backprop 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 the forward pass produces a prediction (and loss), backpropagation works backwards through the network.
It calculates how much each weight contributed to the error, using calculus (the chain rule) to distribute blame.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83464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5760" y="2834640"/>
            <a:ext cx="274320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5760" y="28346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</a:t>
            </a:r>
          </a:p>
        </p:txBody>
      </p:sp>
      <p:sp>
        <p:nvSpPr>
          <p:cNvPr id="47" name="Oval 46"/>
          <p:cNvSpPr/>
          <p:nvPr/>
        </p:nvSpPr>
        <p:spPr>
          <a:xfrm>
            <a:off x="1170432" y="3474720"/>
            <a:ext cx="1133856" cy="1133856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0432" y="35478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7365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" y="5218430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 data through
the network, compute
prediction and loss.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1840" y="283464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291840" y="2834640"/>
            <a:ext cx="2743200" cy="438912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91840" y="28346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</a:t>
            </a:r>
          </a:p>
        </p:txBody>
      </p:sp>
      <p:sp>
        <p:nvSpPr>
          <p:cNvPr id="55" name="Oval 54"/>
          <p:cNvSpPr/>
          <p:nvPr/>
        </p:nvSpPr>
        <p:spPr>
          <a:xfrm>
            <a:off x="4096512" y="3474720"/>
            <a:ext cx="1133856" cy="1133856"/>
          </a:xfrm>
          <a:prstGeom prst="ellipse">
            <a:avLst/>
          </a:prstGeom>
          <a:solidFill>
            <a:srgbClr val="32081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096512" y="35478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7365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COMPUTE ERROR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60420" y="5048885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Calculate loss:
how far off is the
prediction from
the true answer?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283464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217920" y="2834640"/>
            <a:ext cx="2743200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17920" y="28346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</a:t>
            </a:r>
          </a:p>
        </p:txBody>
      </p:sp>
      <p:sp>
        <p:nvSpPr>
          <p:cNvPr id="63" name="Oval 62"/>
          <p:cNvSpPr/>
          <p:nvPr/>
        </p:nvSpPr>
        <p:spPr>
          <a:xfrm>
            <a:off x="7022592" y="3474720"/>
            <a:ext cx="1133856" cy="113385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22592" y="35478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&lt;-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47365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PROPAGATE BACK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15710" y="5046521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chain rule to
calculate gradient
of loss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w.r.t.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each
weight, layer by layer.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44000" y="283464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144000" y="2834640"/>
            <a:ext cx="274320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144000" y="28346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4</a:t>
            </a:r>
          </a:p>
        </p:txBody>
      </p:sp>
      <p:sp>
        <p:nvSpPr>
          <p:cNvPr id="71" name="Oval 70"/>
          <p:cNvSpPr/>
          <p:nvPr/>
        </p:nvSpPr>
        <p:spPr>
          <a:xfrm>
            <a:off x="9948672" y="3474720"/>
            <a:ext cx="1133856" cy="113385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948672" y="354787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47365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UPDATE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49029" y="5073523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Adjust all weights
using gradient
descent to reduce
the error.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" y="6126480"/>
            <a:ext cx="11430000" cy="5486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CHAIN RULE:  dLoss/dWeight = dLoss/dOutput x dOutput/dInput x dInput/dWeight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Training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Training repeats the forward-backward cycle thousands of times.</a:t>
            </a:r>
          </a:p>
        </p:txBody>
      </p:sp>
      <p:sp>
        <p:nvSpPr>
          <p:cNvPr id="40" name="Oval 39"/>
          <p:cNvSpPr/>
          <p:nvPr/>
        </p:nvSpPr>
        <p:spPr>
          <a:xfrm>
            <a:off x="3182112" y="1993392"/>
            <a:ext cx="950976" cy="950976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82112" y="2212848"/>
            <a:ext cx="9509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Load
Batch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657600" y="2468880"/>
            <a:ext cx="1565362" cy="1137303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747474" y="3130695"/>
            <a:ext cx="950976" cy="950976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47474" y="3350151"/>
            <a:ext cx="9509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
Pass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4625047" y="3606183"/>
            <a:ext cx="597915" cy="1840194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149559" y="4970889"/>
            <a:ext cx="950976" cy="950976"/>
          </a:xfrm>
          <a:prstGeom prst="ellipse">
            <a:avLst/>
          </a:prstGeom>
          <a:solidFill>
            <a:srgbClr val="0B162C"/>
          </a:solidFill>
          <a:ln w="317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49559" y="5190345"/>
            <a:ext cx="9509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Compute
Loss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2690153" y="5446377"/>
            <a:ext cx="1934894" cy="0"/>
          </a:xfrm>
          <a:prstGeom prst="line">
            <a:avLst/>
          </a:prstGeom>
          <a:ln w="127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214665" y="4970889"/>
            <a:ext cx="950976" cy="950976"/>
          </a:xfrm>
          <a:prstGeom prst="ellipse">
            <a:avLst/>
          </a:prstGeom>
          <a:solidFill>
            <a:srgbClr val="0B162C"/>
          </a:solidFill>
          <a:ln w="317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14665" y="5190345"/>
            <a:ext cx="9509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Backward
Pass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2092238" y="3606183"/>
            <a:ext cx="597915" cy="1840194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616750" y="3130695"/>
            <a:ext cx="950976" cy="950976"/>
          </a:xfrm>
          <a:prstGeom prst="ellipse">
            <a:avLst/>
          </a:prstGeom>
          <a:solidFill>
            <a:srgbClr val="0B162C"/>
          </a:solidFill>
          <a:ln w="317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16750" y="3350151"/>
            <a:ext cx="9509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Update
Weights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2092238" y="2468880"/>
            <a:ext cx="1565362" cy="1137303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108960" y="3886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REPEAT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1463040"/>
            <a:ext cx="5577840" cy="914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17920" y="1463040"/>
            <a:ext cx="109728" cy="9144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73952" y="15727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Epoch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952" y="1938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full pass through the entire training dataset.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2487168"/>
            <a:ext cx="5577840" cy="9144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217920" y="2487168"/>
            <a:ext cx="109728" cy="9144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73952" y="25968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3952" y="29626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small subset of data processed at once (e.g., 32 samples).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3511296"/>
            <a:ext cx="5577840" cy="91440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217920" y="3511296"/>
            <a:ext cx="109728" cy="9144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73952" y="362102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Iteration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3952" y="39867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forward + backward pass on a single batch.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4535424"/>
            <a:ext cx="5577840" cy="91440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217920" y="4535424"/>
            <a:ext cx="109728" cy="9144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73952" y="46451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Rate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3952" y="5010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big of a step to take when updating weights.
Too big = overshoot. Too small = too slow.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0" y="5559552"/>
            <a:ext cx="5577840" cy="91440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217920" y="5559552"/>
            <a:ext cx="109728" cy="91440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73952" y="566928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Convergence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3952" y="6035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the loss stops decreasing significantly.
Training is 'done' (or should be stopped).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Rate: The Most Important Hyperparameter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Controls how big a step the network takes when updating weights.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3657600" cy="438912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14630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 TOO HIGH</a:t>
            </a:r>
          </a:p>
        </p:txBody>
      </p:sp>
      <p:sp>
        <p:nvSpPr>
          <p:cNvPr id="43" name="Oval 42"/>
          <p:cNvSpPr/>
          <p:nvPr/>
        </p:nvSpPr>
        <p:spPr>
          <a:xfrm>
            <a:off x="603504" y="298094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59536" y="2500885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5" name="Connector 44"/>
          <p:cNvCxnSpPr/>
          <p:nvPr/>
        </p:nvCxnSpPr>
        <p:spPr>
          <a:xfrm flipV="1">
            <a:off x="640080" y="2537461"/>
            <a:ext cx="256032" cy="480059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115568" y="2591829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896112" y="2537461"/>
            <a:ext cx="256032" cy="9094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371600" y="3257112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1152144" y="2628405"/>
            <a:ext cx="256032" cy="665283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627632" y="3525012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1408176" y="3293688"/>
            <a:ext cx="256032" cy="26790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883664" y="3182149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3" name="Connector 52"/>
          <p:cNvCxnSpPr/>
          <p:nvPr/>
        </p:nvCxnSpPr>
        <p:spPr>
          <a:xfrm flipV="1">
            <a:off x="1664208" y="3218725"/>
            <a:ext cx="256032" cy="342863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2139696" y="2500885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5" name="Connector 54"/>
          <p:cNvCxnSpPr/>
          <p:nvPr/>
        </p:nvCxnSpPr>
        <p:spPr>
          <a:xfrm flipV="1">
            <a:off x="1920240" y="2537461"/>
            <a:ext cx="256032" cy="68126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2395728" y="2500885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2176272" y="2537461"/>
            <a:ext cx="256032" cy="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651760" y="3131582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9" name="Connector 58"/>
          <p:cNvCxnSpPr/>
          <p:nvPr/>
        </p:nvCxnSpPr>
        <p:spPr>
          <a:xfrm>
            <a:off x="2432304" y="2537461"/>
            <a:ext cx="256032" cy="630697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2907792" y="3525012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2688336" y="3168158"/>
            <a:ext cx="256032" cy="39343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163824" y="3496119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3" name="Connector 62"/>
          <p:cNvCxnSpPr/>
          <p:nvPr/>
        </p:nvCxnSpPr>
        <p:spPr>
          <a:xfrm flipV="1">
            <a:off x="2944368" y="3532695"/>
            <a:ext cx="256032" cy="28893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419856" y="2500885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5" name="Connector 64"/>
          <p:cNvCxnSpPr/>
          <p:nvPr/>
        </p:nvCxnSpPr>
        <p:spPr>
          <a:xfrm flipV="1">
            <a:off x="3200400" y="2537461"/>
            <a:ext cx="256032" cy="99523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28371" y="41148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bounces around,
never converges.
Weights overshoot
the minimum.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97680" y="14630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297680" y="1463040"/>
            <a:ext cx="3657600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297680" y="14630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 JUST RIGHT</a:t>
            </a:r>
          </a:p>
        </p:txBody>
      </p:sp>
      <p:sp>
        <p:nvSpPr>
          <p:cNvPr id="70" name="Oval 69"/>
          <p:cNvSpPr/>
          <p:nvPr/>
        </p:nvSpPr>
        <p:spPr>
          <a:xfrm>
            <a:off x="4535424" y="2660905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4791456" y="2873282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4572000" y="2697481"/>
            <a:ext cx="256032" cy="212377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5047488" y="3038682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4828032" y="2909858"/>
            <a:ext cx="256032" cy="165400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5303520" y="3167496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5084064" y="3075258"/>
            <a:ext cx="256032" cy="128814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559552" y="3267816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5340096" y="3204072"/>
            <a:ext cx="256032" cy="100320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815584" y="3345946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5596128" y="3304392"/>
            <a:ext cx="256032" cy="78130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6071616" y="3406793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5852160" y="3382522"/>
            <a:ext cx="256032" cy="60847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6327648" y="3454181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108192" y="3443369"/>
            <a:ext cx="256032" cy="47388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6583680" y="3491086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6364224" y="3490757"/>
            <a:ext cx="256032" cy="36905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6839712" y="3519829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6620256" y="3527662"/>
            <a:ext cx="256032" cy="28743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7095744" y="3542213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6876288" y="3556405"/>
            <a:ext cx="256032" cy="22384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7351776" y="3559646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7132320" y="3578789"/>
            <a:ext cx="256032" cy="17433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363676" y="408389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decreases smoothly
to a minimum.
Weights converge
to good values.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29600" y="14630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2822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229600" y="1463040"/>
            <a:ext cx="3657600" cy="43891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229600" y="14630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 TOO LOW</a:t>
            </a:r>
          </a:p>
        </p:txBody>
      </p:sp>
      <p:sp>
        <p:nvSpPr>
          <p:cNvPr id="97" name="Oval 96"/>
          <p:cNvSpPr/>
          <p:nvPr/>
        </p:nvSpPr>
        <p:spPr>
          <a:xfrm>
            <a:off x="8467344" y="2660905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8723376" y="2707730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9" name="Connector 98"/>
          <p:cNvCxnSpPr/>
          <p:nvPr/>
        </p:nvCxnSpPr>
        <p:spPr>
          <a:xfrm>
            <a:off x="8503920" y="2697481"/>
            <a:ext cx="256032" cy="46825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8979408" y="2752272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8759952" y="2744306"/>
            <a:ext cx="256032" cy="44542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9235440" y="2794642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3" name="Connector 102"/>
          <p:cNvCxnSpPr/>
          <p:nvPr/>
        </p:nvCxnSpPr>
        <p:spPr>
          <a:xfrm>
            <a:off x="9015984" y="2788848"/>
            <a:ext cx="256032" cy="4237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9491472" y="2834945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5" name="Connector 104"/>
          <p:cNvCxnSpPr/>
          <p:nvPr/>
        </p:nvCxnSpPr>
        <p:spPr>
          <a:xfrm>
            <a:off x="9272016" y="2831218"/>
            <a:ext cx="256032" cy="40303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9747504" y="2873282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7" name="Connector 106"/>
          <p:cNvCxnSpPr/>
          <p:nvPr/>
        </p:nvCxnSpPr>
        <p:spPr>
          <a:xfrm>
            <a:off x="9528048" y="2871521"/>
            <a:ext cx="256032" cy="38337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10003536" y="2909750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9" name="Connector 108"/>
          <p:cNvCxnSpPr/>
          <p:nvPr/>
        </p:nvCxnSpPr>
        <p:spPr>
          <a:xfrm>
            <a:off x="9784080" y="2909858"/>
            <a:ext cx="256032" cy="36468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259568" y="2944439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10040112" y="2946326"/>
            <a:ext cx="256032" cy="34689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0515600" y="2977437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3" name="Connector 112"/>
          <p:cNvCxnSpPr/>
          <p:nvPr/>
        </p:nvCxnSpPr>
        <p:spPr>
          <a:xfrm>
            <a:off x="10296144" y="2981015"/>
            <a:ext cx="256032" cy="32998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10771632" y="3008825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5" name="Connector 114"/>
          <p:cNvCxnSpPr/>
          <p:nvPr/>
        </p:nvCxnSpPr>
        <p:spPr>
          <a:xfrm>
            <a:off x="10552176" y="3014013"/>
            <a:ext cx="256032" cy="31388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11027664" y="3038682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7" name="Connector 116"/>
          <p:cNvCxnSpPr/>
          <p:nvPr/>
        </p:nvCxnSpPr>
        <p:spPr>
          <a:xfrm>
            <a:off x="10808208" y="3045401"/>
            <a:ext cx="256032" cy="29857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11283696" y="3067083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9" name="Connector 118"/>
          <p:cNvCxnSpPr/>
          <p:nvPr/>
        </p:nvCxnSpPr>
        <p:spPr>
          <a:xfrm>
            <a:off x="11064240" y="3075258"/>
            <a:ext cx="256032" cy="28401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8412480" y="408389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decreases very
slowly. Training takes
too long. May get
stuck in local minima.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5029200"/>
            <a:ext cx="11430000" cy="155448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4864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COMMON LEARNING RATES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" y="5440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7160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Very aggressive, often diverges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83280" y="5440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0624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Good starting point for SGD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440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0.001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4088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Default for Adam optimizer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52560" y="5440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0.0001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87552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Fine-tuning pre-trained models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 tip: Use learning rate schedulers to start fast and slow down as training progresses.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Overfitting vs Underfitting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balance between learning too much detail vs not enough.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3657600" cy="347472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UNDERFITTING</a:t>
            </a:r>
          </a:p>
        </p:txBody>
      </p:sp>
      <p:sp>
        <p:nvSpPr>
          <p:cNvPr id="43" name="Oval 42"/>
          <p:cNvSpPr/>
          <p:nvPr/>
        </p:nvSpPr>
        <p:spPr>
          <a:xfrm>
            <a:off x="594360" y="2880360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03504" y="3035808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914399" y="2741679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923543" y="301142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7" name="Connector 46"/>
          <p:cNvCxnSpPr/>
          <p:nvPr/>
        </p:nvCxnSpPr>
        <p:spPr>
          <a:xfrm flipV="1">
            <a:off x="640080" y="3048000"/>
            <a:ext cx="320039" cy="2438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234440" y="2623707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243584" y="2987040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0" name="Connector 49"/>
          <p:cNvCxnSpPr/>
          <p:nvPr/>
        </p:nvCxnSpPr>
        <p:spPr>
          <a:xfrm flipV="1">
            <a:off x="960119" y="3023616"/>
            <a:ext cx="320041" cy="2438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554479" y="2544064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1563623" y="2962656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3" name="Connector 52"/>
          <p:cNvCxnSpPr/>
          <p:nvPr/>
        </p:nvCxnSpPr>
        <p:spPr>
          <a:xfrm flipV="1">
            <a:off x="1280160" y="2999232"/>
            <a:ext cx="320039" cy="2438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874520" y="2514643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1883664" y="2938272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6" name="Connector 55"/>
          <p:cNvCxnSpPr/>
          <p:nvPr/>
        </p:nvCxnSpPr>
        <p:spPr>
          <a:xfrm flipV="1">
            <a:off x="1600199" y="2974848"/>
            <a:ext cx="320041" cy="2438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2194559" y="2539837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203703" y="2913888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9" name="Connector 58"/>
          <p:cNvCxnSpPr/>
          <p:nvPr/>
        </p:nvCxnSpPr>
        <p:spPr>
          <a:xfrm flipV="1">
            <a:off x="1920240" y="2950464"/>
            <a:ext cx="320039" cy="2438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2514599" y="2615885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2523743" y="288950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2" name="Connector 61"/>
          <p:cNvCxnSpPr/>
          <p:nvPr/>
        </p:nvCxnSpPr>
        <p:spPr>
          <a:xfrm flipV="1">
            <a:off x="2240279" y="2926080"/>
            <a:ext cx="320040" cy="2438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834639" y="2731428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2843783" y="2865121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5" name="Connector 64"/>
          <p:cNvCxnSpPr/>
          <p:nvPr/>
        </p:nvCxnSpPr>
        <p:spPr>
          <a:xfrm flipV="1">
            <a:off x="2560319" y="2901697"/>
            <a:ext cx="320040" cy="24383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154679" y="2869213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63823" y="2840737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8" name="Connector 67"/>
          <p:cNvCxnSpPr/>
          <p:nvPr/>
        </p:nvCxnSpPr>
        <p:spPr>
          <a:xfrm flipV="1">
            <a:off x="2880359" y="2877313"/>
            <a:ext cx="320040" cy="2438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474719" y="3008662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3483863" y="2816353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1" name="Connector 70"/>
          <p:cNvCxnSpPr/>
          <p:nvPr/>
        </p:nvCxnSpPr>
        <p:spPr>
          <a:xfrm flipV="1">
            <a:off x="3200399" y="2852929"/>
            <a:ext cx="320040" cy="2438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2920" y="35661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is too simple.
Can't capture the
pattern in data.
High training loss.
High test loss.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7680" y="1463040"/>
            <a:ext cx="3657600" cy="347472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297680" y="1463040"/>
            <a:ext cx="3657600" cy="4572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29768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GOOD FIT</a:t>
            </a:r>
          </a:p>
        </p:txBody>
      </p:sp>
      <p:sp>
        <p:nvSpPr>
          <p:cNvPr id="76" name="Oval 75"/>
          <p:cNvSpPr/>
          <p:nvPr/>
        </p:nvSpPr>
        <p:spPr>
          <a:xfrm>
            <a:off x="4526280" y="2880360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4535424" y="2889504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4846319" y="2741679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4855463" y="2750823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0" name="Connector 79"/>
          <p:cNvCxnSpPr/>
          <p:nvPr/>
        </p:nvCxnSpPr>
        <p:spPr>
          <a:xfrm flipV="1">
            <a:off x="4572000" y="2787399"/>
            <a:ext cx="320039" cy="138681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5166360" y="2623707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5175504" y="2632851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3" name="Connector 82"/>
          <p:cNvCxnSpPr/>
          <p:nvPr/>
        </p:nvCxnSpPr>
        <p:spPr>
          <a:xfrm flipV="1">
            <a:off x="4892039" y="2669427"/>
            <a:ext cx="320041" cy="117972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486399" y="2544064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5495543" y="2553208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6" name="Connector 85"/>
          <p:cNvCxnSpPr/>
          <p:nvPr/>
        </p:nvCxnSpPr>
        <p:spPr>
          <a:xfrm flipV="1">
            <a:off x="5212080" y="2589784"/>
            <a:ext cx="320039" cy="79643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5806440" y="2514643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5815584" y="2523787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9" name="Connector 88"/>
          <p:cNvCxnSpPr/>
          <p:nvPr/>
        </p:nvCxnSpPr>
        <p:spPr>
          <a:xfrm flipV="1">
            <a:off x="5532119" y="2560363"/>
            <a:ext cx="320041" cy="29421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126479" y="2539837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6135623" y="2548981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5852160" y="2560363"/>
            <a:ext cx="320039" cy="25194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6446519" y="2615885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6455663" y="2625029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5" name="Connector 94"/>
          <p:cNvCxnSpPr/>
          <p:nvPr/>
        </p:nvCxnSpPr>
        <p:spPr>
          <a:xfrm>
            <a:off x="6172199" y="2585557"/>
            <a:ext cx="320040" cy="76048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6766559" y="2731428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6775703" y="2740572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6492239" y="2661605"/>
            <a:ext cx="320040" cy="115543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7086599" y="2869213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7095743" y="2878357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6812279" y="2777148"/>
            <a:ext cx="320040" cy="137785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7406639" y="3008662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7415783" y="3017806"/>
            <a:ext cx="73152" cy="73152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7132319" y="2914933"/>
            <a:ext cx="320040" cy="139449"/>
          </a:xfrm>
          <a:prstGeom prst="line">
            <a:avLst/>
          </a:prstGeom>
          <a:ln w="1270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434840" y="35661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captures the
true pattern.
Low training loss.
Low test loss.
(Generalizes well!)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229600" y="1463040"/>
            <a:ext cx="3657600" cy="347472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8229600" y="1463040"/>
            <a:ext cx="3657600" cy="4572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OVERFITTING</a:t>
            </a:r>
          </a:p>
        </p:txBody>
      </p:sp>
      <p:sp>
        <p:nvSpPr>
          <p:cNvPr id="109" name="Oval 108"/>
          <p:cNvSpPr/>
          <p:nvPr/>
        </p:nvSpPr>
        <p:spPr>
          <a:xfrm>
            <a:off x="8458200" y="2880360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467344" y="2889504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8778239" y="2741679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8787383" y="2619484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3" name="Connector 112"/>
          <p:cNvCxnSpPr/>
          <p:nvPr/>
        </p:nvCxnSpPr>
        <p:spPr>
          <a:xfrm flipV="1">
            <a:off x="8503920" y="2656060"/>
            <a:ext cx="320039" cy="270020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9098280" y="2623707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9107424" y="2843293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8823959" y="2656060"/>
            <a:ext cx="320041" cy="223809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9418319" y="2544064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9427463" y="2347359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9" name="Connector 118"/>
          <p:cNvCxnSpPr/>
          <p:nvPr/>
        </p:nvCxnSpPr>
        <p:spPr>
          <a:xfrm flipV="1">
            <a:off x="9144000" y="2383935"/>
            <a:ext cx="320039" cy="495934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9738360" y="2514643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9747504" y="2643176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2" name="Connector 121"/>
          <p:cNvCxnSpPr/>
          <p:nvPr/>
        </p:nvCxnSpPr>
        <p:spPr>
          <a:xfrm>
            <a:off x="9464039" y="2383935"/>
            <a:ext cx="320041" cy="295817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10058399" y="2539837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0067543" y="2563536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5" name="Connector 124"/>
          <p:cNvCxnSpPr/>
          <p:nvPr/>
        </p:nvCxnSpPr>
        <p:spPr>
          <a:xfrm flipV="1">
            <a:off x="9784080" y="2600112"/>
            <a:ext cx="320039" cy="79640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10378439" y="2615885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10387583" y="2482319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10104119" y="2518895"/>
            <a:ext cx="320040" cy="81217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10698479" y="2731428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10707623" y="2954678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1" name="Connector 130"/>
          <p:cNvCxnSpPr/>
          <p:nvPr/>
        </p:nvCxnSpPr>
        <p:spPr>
          <a:xfrm>
            <a:off x="10424159" y="2518895"/>
            <a:ext cx="320040" cy="472359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11018519" y="2869213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11027663" y="2678006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4" name="Connector 133"/>
          <p:cNvCxnSpPr/>
          <p:nvPr/>
        </p:nvCxnSpPr>
        <p:spPr>
          <a:xfrm flipV="1">
            <a:off x="10744199" y="2714582"/>
            <a:ext cx="320040" cy="276672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11338559" y="3008662"/>
            <a:ext cx="91440" cy="9144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11347703" y="3124719"/>
            <a:ext cx="73152" cy="73152"/>
          </a:xfrm>
          <a:prstGeom prst="ellipse">
            <a:avLst/>
          </a:prstGeom>
          <a:solidFill>
            <a:srgbClr val="FF722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7" name="Connector 136"/>
          <p:cNvCxnSpPr/>
          <p:nvPr/>
        </p:nvCxnSpPr>
        <p:spPr>
          <a:xfrm>
            <a:off x="11064239" y="2714582"/>
            <a:ext cx="320040" cy="446713"/>
          </a:xfrm>
          <a:prstGeom prst="line">
            <a:avLst/>
          </a:prstGeom>
          <a:ln w="127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8366760" y="35661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memorizes
training data including
noise. Low training loss
but high test loss.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65760" y="5212080"/>
            <a:ext cx="11430000" cy="137160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PREVENT OVERFITTING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864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More Data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5897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More examples = harder
to memorize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8328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Dropout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83280" y="5897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Randomly disable neurons
during training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21792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Regularization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17920" y="5897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Penalize large weights
(L1/L2 penalty)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Early Stopping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52560" y="5897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Stop training before
overfitting begins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Feedforward Neural Networks (FNN)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simplest architecture: data flows in one direction only.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5120640" cy="10972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972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Feedforward Network?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moves from input to output without any loops or cycles.
Each layer is fully connected to the next. Also called a 'dense' network.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743200"/>
            <a:ext cx="5120640" cy="100584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5760" y="2743200"/>
            <a:ext cx="109728" cy="100584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1792" y="285292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For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32186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Tabular data, simple classification, regression problems.
When the input features are fixed-length and not sequential.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3931920"/>
            <a:ext cx="5120640" cy="91440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65760" y="3931920"/>
            <a:ext cx="109728" cy="9144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1792" y="40416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Limitations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44074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Can't handle variable-length input, no memory of past inputs.
Not great for images (too many parameters) or text (order matters).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FEEDFORWARD ARCHITECTURE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0" y="1920240"/>
            <a:ext cx="5852160" cy="457200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6583680" y="2468880"/>
            <a:ext cx="1280160" cy="2743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83680" y="2468880"/>
            <a:ext cx="1280160" cy="10058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583680" y="2468880"/>
            <a:ext cx="1280160" cy="17373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583680" y="2468880"/>
            <a:ext cx="1280160" cy="24688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583680" y="2743200"/>
            <a:ext cx="1280160" cy="4572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583680" y="3200400"/>
            <a:ext cx="1280160" cy="2743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583680" y="3200400"/>
            <a:ext cx="1280160" cy="10058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583680" y="3200400"/>
            <a:ext cx="1280160" cy="17373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583680" y="2743200"/>
            <a:ext cx="1280160" cy="11887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583680" y="3474720"/>
            <a:ext cx="1280160" cy="4572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583680" y="3931920"/>
            <a:ext cx="1280160" cy="2743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83680" y="3931920"/>
            <a:ext cx="1280160" cy="10058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3680" y="2743200"/>
            <a:ext cx="1280160" cy="19202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583680" y="3474720"/>
            <a:ext cx="1280160" cy="11887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3680" y="4206240"/>
            <a:ext cx="1280160" cy="4572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583680" y="4663440"/>
            <a:ext cx="1280160" cy="2743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3680" y="2743200"/>
            <a:ext cx="1280160" cy="26517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83680" y="3474720"/>
            <a:ext cx="1280160" cy="19202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583680" y="4206240"/>
            <a:ext cx="1280160" cy="11887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583680" y="4937760"/>
            <a:ext cx="1280160" cy="4572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863840" y="2560320"/>
            <a:ext cx="1280160" cy="1828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863840" y="2743200"/>
            <a:ext cx="1280160" cy="4572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863840" y="2743200"/>
            <a:ext cx="1280160" cy="10972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863840" y="2743200"/>
            <a:ext cx="1280160" cy="17373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863840" y="2743200"/>
            <a:ext cx="1280160" cy="23774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863840" y="2560320"/>
            <a:ext cx="1280160" cy="9144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863840" y="3200400"/>
            <a:ext cx="1280160" cy="2743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63840" y="3474720"/>
            <a:ext cx="1280160" cy="3657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63840" y="3474720"/>
            <a:ext cx="1280160" cy="10058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63840" y="3474720"/>
            <a:ext cx="1280160" cy="16459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863840" y="2560320"/>
            <a:ext cx="1280160" cy="16459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863840" y="3200400"/>
            <a:ext cx="1280160" cy="10058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63840" y="3840480"/>
            <a:ext cx="1280160" cy="3657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863840" y="4206240"/>
            <a:ext cx="1280160" cy="2743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863840" y="4206240"/>
            <a:ext cx="1280160" cy="9144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863840" y="2560320"/>
            <a:ext cx="1280160" cy="23774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863840" y="3200400"/>
            <a:ext cx="1280160" cy="17373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863840" y="3840480"/>
            <a:ext cx="1280160" cy="10972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863840" y="4480560"/>
            <a:ext cx="1280160" cy="4572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863840" y="4937760"/>
            <a:ext cx="1280160" cy="1828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144000" y="2560320"/>
            <a:ext cx="1280160" cy="3657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44000" y="2560320"/>
            <a:ext cx="1280160" cy="10972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44000" y="2560320"/>
            <a:ext cx="1280160" cy="18288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144000" y="2926080"/>
            <a:ext cx="1280160" cy="2743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44000" y="3200400"/>
            <a:ext cx="1280160" cy="4572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144000" y="3200400"/>
            <a:ext cx="1280160" cy="11887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144000" y="2926080"/>
            <a:ext cx="1280160" cy="91440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144000" y="3657600"/>
            <a:ext cx="1280160" cy="1828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144000" y="3840480"/>
            <a:ext cx="1280160" cy="5486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144000" y="2926080"/>
            <a:ext cx="1280160" cy="15544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144000" y="3657600"/>
            <a:ext cx="1280160" cy="8229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144000" y="4389120"/>
            <a:ext cx="1280160" cy="914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144000" y="2926080"/>
            <a:ext cx="1280160" cy="21945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144000" y="3657600"/>
            <a:ext cx="1280160" cy="146304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144000" y="4389120"/>
            <a:ext cx="1280160" cy="73152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424160" y="2926080"/>
            <a:ext cx="914400" cy="3657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424160" y="2926080"/>
            <a:ext cx="914400" cy="10972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424160" y="3291840"/>
            <a:ext cx="914400" cy="3657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424160" y="3657600"/>
            <a:ext cx="914400" cy="3657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424160" y="3291840"/>
            <a:ext cx="914400" cy="109728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424160" y="4023360"/>
            <a:ext cx="914400" cy="365760"/>
          </a:xfrm>
          <a:prstGeom prst="line">
            <a:avLst/>
          </a:prstGeom>
          <a:ln w="508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6419088" y="230428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6419088" y="30358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419088" y="376732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6419088" y="449884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6419088" y="523036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7699248" y="25786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7699248" y="331012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7699248" y="404164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7699248" y="477316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8979408" y="239572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8979408" y="30358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8979408" y="367588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8979408" y="431596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8979408" y="495604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0259568" y="276148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10259568" y="349300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10259568" y="422452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11173968" y="312724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11173968" y="3858768"/>
            <a:ext cx="329184" cy="329184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12648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 (5)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0664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Dense (4)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Dense (5)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96696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Dense (3)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88136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 (2)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132320" y="6035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412480" y="6035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692640" y="6035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881360" y="6035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5120640"/>
            <a:ext cx="5120640" cy="109728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365760" y="5120640"/>
            <a:ext cx="109728" cy="10972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21792" y="523036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 House Price Prediction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1792" y="5596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Inputs: bedrooms, sqft, location, age, garage
Output: predicted price. A classic FNN regression task.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Convolutional Neural Networks (CNNs)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Designed for images: detect spatial patterns through sliding filters.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463040"/>
            <a:ext cx="2194560" cy="219456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4320" y="1463040"/>
            <a:ext cx="2194560" cy="4114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432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
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Raw pixel grid
(e.g., 224x224x3)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51760" y="1463040"/>
            <a:ext cx="2194560" cy="219456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651760" y="1463040"/>
            <a:ext cx="2194560" cy="41148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5176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CONVOLUTION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small filter
across image to
detect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1463040"/>
            <a:ext cx="2194560" cy="219456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29200" y="1463040"/>
            <a:ext cx="2194560" cy="4114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02920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POOLING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Shrink the map
by keeping only
the max values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06640" y="1463040"/>
            <a:ext cx="2194560" cy="219456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406640" y="1463040"/>
            <a:ext cx="2194560" cy="41148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40664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FLATTEN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Convert 2D feature
maps into a 1D
vector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548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0" y="1463040"/>
            <a:ext cx="2194560" cy="219456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784080" y="1463040"/>
            <a:ext cx="2194560" cy="41148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784080" y="14630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DENSE +
OUTPUT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Classify using
fully connected
layers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4320" y="3931920"/>
            <a:ext cx="5669280" cy="27432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720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CONVOLUTION WORKS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480560"/>
            <a:ext cx="292608" cy="292608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77824" y="4480560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207007" y="4480560"/>
            <a:ext cx="292608" cy="292608"/>
          </a:xfrm>
          <a:prstGeom prst="rect">
            <a:avLst/>
          </a:prstGeom>
          <a:solidFill>
            <a:srgbClr val="58709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536192" y="4480560"/>
            <a:ext cx="292608" cy="292608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865376" y="4480560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77824" y="4809744"/>
            <a:ext cx="292608" cy="292608"/>
          </a:xfrm>
          <a:prstGeom prst="rect">
            <a:avLst/>
          </a:prstGeom>
          <a:solidFill>
            <a:srgbClr val="58709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207007" y="4809744"/>
            <a:ext cx="292608" cy="292608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536192" y="4809744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865376" y="4809744"/>
            <a:ext cx="292608" cy="292608"/>
          </a:xfrm>
          <a:prstGeom prst="rect">
            <a:avLst/>
          </a:prstGeom>
          <a:solidFill>
            <a:srgbClr val="58709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548640" y="5138928"/>
            <a:ext cx="292608" cy="292608"/>
          </a:xfrm>
          <a:prstGeom prst="rect">
            <a:avLst/>
          </a:prstGeom>
          <a:solidFill>
            <a:srgbClr val="58709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77824" y="5138928"/>
            <a:ext cx="292608" cy="292608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207007" y="5138928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536192" y="5138928"/>
            <a:ext cx="292608" cy="292608"/>
          </a:xfrm>
          <a:prstGeom prst="rect">
            <a:avLst/>
          </a:prstGeom>
          <a:solidFill>
            <a:srgbClr val="58709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865376" y="5138928"/>
            <a:ext cx="292608" cy="292608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48640" y="5468112"/>
            <a:ext cx="292608" cy="292608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77824" y="5468112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207007" y="5468112"/>
            <a:ext cx="292608" cy="292608"/>
          </a:xfrm>
          <a:prstGeom prst="rect">
            <a:avLst/>
          </a:prstGeom>
          <a:solidFill>
            <a:srgbClr val="58709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36192" y="5468112"/>
            <a:ext cx="292608" cy="292608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865376" y="5468112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48640" y="5797296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77824" y="5797296"/>
            <a:ext cx="292608" cy="292608"/>
          </a:xfrm>
          <a:prstGeom prst="rect">
            <a:avLst/>
          </a:prstGeom>
          <a:solidFill>
            <a:srgbClr val="58709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207007" y="5797296"/>
            <a:ext cx="292608" cy="292608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536192" y="5797296"/>
            <a:ext cx="292608" cy="292608"/>
          </a:xfrm>
          <a:prstGeom prst="rect">
            <a:avLst/>
          </a:prstGeom>
          <a:solidFill>
            <a:srgbClr val="101F3D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865376" y="5797296"/>
            <a:ext cx="292608" cy="292608"/>
          </a:xfrm>
          <a:prstGeom prst="rect">
            <a:avLst/>
          </a:prstGeom>
          <a:solidFill>
            <a:srgbClr val="587096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77824" y="4809744"/>
            <a:ext cx="950976" cy="950976"/>
          </a:xfrm>
          <a:prstGeom prst="rect">
            <a:avLst/>
          </a:prstGeom>
          <a:solidFill>
            <a:srgbClr val="000000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468880" y="47548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Filter
3x3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00400" y="5120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&gt;&gt;&gt;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40480" y="4663440"/>
            <a:ext cx="347472" cy="347472"/>
          </a:xfrm>
          <a:prstGeom prst="rect">
            <a:avLst/>
          </a:prstGeom>
          <a:solidFill>
            <a:srgbClr val="006432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224528" y="4663440"/>
            <a:ext cx="347472" cy="347472"/>
          </a:xfrm>
          <a:prstGeom prst="rect">
            <a:avLst/>
          </a:prstGeom>
          <a:solidFill>
            <a:srgbClr val="007A48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608576" y="4663440"/>
            <a:ext cx="347472" cy="347472"/>
          </a:xfrm>
          <a:prstGeom prst="rect">
            <a:avLst/>
          </a:prstGeom>
          <a:solidFill>
            <a:srgbClr val="00905E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3840480" y="5047488"/>
            <a:ext cx="347472" cy="347472"/>
          </a:xfrm>
          <a:prstGeom prst="rect">
            <a:avLst/>
          </a:prstGeom>
          <a:solidFill>
            <a:srgbClr val="00A674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224528" y="5047488"/>
            <a:ext cx="347472" cy="347472"/>
          </a:xfrm>
          <a:prstGeom prst="rect">
            <a:avLst/>
          </a:prstGeom>
          <a:solidFill>
            <a:srgbClr val="00BC8A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4608576" y="5047488"/>
            <a:ext cx="347472" cy="347472"/>
          </a:xfrm>
          <a:prstGeom prst="rect">
            <a:avLst/>
          </a:prstGeom>
          <a:solidFill>
            <a:srgbClr val="00D2A0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3840480" y="5431536"/>
            <a:ext cx="347472" cy="347472"/>
          </a:xfrm>
          <a:prstGeom prst="rect">
            <a:avLst/>
          </a:prstGeom>
          <a:solidFill>
            <a:srgbClr val="00E8B6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224528" y="5431536"/>
            <a:ext cx="347472" cy="347472"/>
          </a:xfrm>
          <a:prstGeom prst="rect">
            <a:avLst/>
          </a:prstGeom>
          <a:solidFill>
            <a:srgbClr val="00FECC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4608576" y="5431536"/>
            <a:ext cx="347472" cy="347472"/>
          </a:xfrm>
          <a:prstGeom prst="rect">
            <a:avLst/>
          </a:prstGeom>
          <a:solidFill>
            <a:srgbClr val="00FFE2"/>
          </a:solidFill>
          <a:ln w="63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84048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Feature Map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6217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filter slides across the
input, computing dot products
at each position to create
a feature map.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217920" y="3931920"/>
            <a:ext cx="5577840" cy="274320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EACH LAYER DETECTS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8368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1: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7240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Edges, gradients, simple textures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8368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2: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724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Corners, shapes, basic patterns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583680" y="5394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3: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40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 parts (eyes, wheels, windows)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83680" y="5852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4: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7240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objects and complex features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0" y="6309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Used in: Image classification, object detection, facial recognition,
medical imaging, self-driving cars, video analysis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Recurrent Neural Networks (RNNs)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Networks with memory: designed for sequential data like text and time series.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5486400" cy="10058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0584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Idea: Memory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Unlike feedforward networks, RNNs have loops that let information persist.
The output at each step depends on the current input AND the previous state.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RNN UNROLLED THROUGH TIME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108960"/>
            <a:ext cx="11612880" cy="219456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31520" y="466344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00283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152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x[t-2]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3840480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31520" y="38404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h[t-2]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320040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1520" y="320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y[t-2]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1371600" y="4297680"/>
            <a:ext cx="0" cy="36576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371600" y="3566160"/>
            <a:ext cx="0" cy="27432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011680" y="4069080"/>
            <a:ext cx="914400" cy="0"/>
          </a:xfrm>
          <a:prstGeom prst="line">
            <a:avLst/>
          </a:prstGeom>
          <a:ln w="254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28600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26080" y="466344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00283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2608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x[t-1]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26080" y="3840480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926080" y="38404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h[t-1]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26080" y="320040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926080" y="320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y[t-1]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3566160" y="4297680"/>
            <a:ext cx="0" cy="36576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566160" y="3566160"/>
            <a:ext cx="0" cy="27432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206240" y="4069080"/>
            <a:ext cx="914400" cy="0"/>
          </a:xfrm>
          <a:prstGeom prst="line">
            <a:avLst/>
          </a:prstGeom>
          <a:ln w="254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48056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20640" y="466344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00283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12064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x[t]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20640" y="3840480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20640" y="38404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h[t]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120640" y="320040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120640" y="320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y[t]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5760720" y="4297680"/>
            <a:ext cx="0" cy="36576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60720" y="3566160"/>
            <a:ext cx="0" cy="27432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00800" y="4069080"/>
            <a:ext cx="914400" cy="0"/>
          </a:xfrm>
          <a:prstGeom prst="line">
            <a:avLst/>
          </a:prstGeom>
          <a:ln w="254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67512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0" y="466344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00283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1520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x[t+1]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315200" y="3840480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315200" y="38404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h[t+1]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0" y="320040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315200" y="320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y[t+1]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7955280" y="4297680"/>
            <a:ext cx="0" cy="36576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55280" y="3566160"/>
            <a:ext cx="0" cy="27432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595360" y="4069080"/>
            <a:ext cx="914400" cy="0"/>
          </a:xfrm>
          <a:prstGeom prst="line">
            <a:avLst/>
          </a:prstGeom>
          <a:ln w="254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86968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-&gt;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509760" y="466344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00283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50976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x[t+2]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509760" y="3840480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509760" y="38404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h[t+2]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09760" y="3200400"/>
            <a:ext cx="1280160" cy="365760"/>
          </a:xfrm>
          <a:prstGeom prst="roundRect">
            <a:avLst>
              <a:gd name="adj" fmla="val 2000"/>
            </a:avLst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509760" y="3200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y[t+2]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10149840" y="4297680"/>
            <a:ext cx="0" cy="36576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149840" y="3566160"/>
            <a:ext cx="0" cy="27432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576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EVOLUTION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5760" y="5806440"/>
            <a:ext cx="2743200" cy="8686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57200" y="5852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RNN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3444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Simple, but forgets
long sequences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291840" y="5806440"/>
            <a:ext cx="2743200" cy="86868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383280" y="5852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LSTM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6052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 Short-Term Memory:
gates control what
to remember/forget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217920" y="5806440"/>
            <a:ext cx="2743200" cy="86868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309360" y="5852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GRU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8660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Simplified LSTM:
fewer parameters,
similar performance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44000" y="5806440"/>
            <a:ext cx="2743200" cy="86868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9235440" y="5852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12680" y="5806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Replaced RNNs for
most NLP tasks.
Parallel, not sequential.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217920" y="1463040"/>
            <a:ext cx="5577840" cy="100584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6217920" y="1463040"/>
            <a:ext cx="109728" cy="100584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473952" y="15727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For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73952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 generation, speech recognition, music composition, stock prediction,
language translation, any data where ORDER matters.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Transformers &amp; Attention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architecture behind GPT, Claude, and modern AI breakthroughs.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5486400" cy="10972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972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Attention?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Instead of processing tokens one-by-one (like RNNs), attention lets the model
look at ALL tokens simultaneously and weigh which ones are most relevant.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SELF-ATTENTION EXAMPLE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200400"/>
            <a:ext cx="5760720" cy="23774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48640" y="4846320"/>
            <a:ext cx="731520" cy="36576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864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17320" y="4846320"/>
            <a:ext cx="731520" cy="36576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86000" y="4846320"/>
            <a:ext cx="731520" cy="36576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28600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54680" y="4846320"/>
            <a:ext cx="731520" cy="36576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15468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23360" y="4846320"/>
            <a:ext cx="731520" cy="36576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02336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92040" y="4846320"/>
            <a:ext cx="731520" cy="36576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9204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914400" y="3657600"/>
            <a:ext cx="868680" cy="1188720"/>
          </a:xfrm>
          <a:prstGeom prst="line">
            <a:avLst/>
          </a:prstGeom>
          <a:ln w="6350">
            <a:solidFill>
              <a:srgbClr val="001E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83080" y="3657600"/>
            <a:ext cx="0" cy="118872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83080" y="3657600"/>
            <a:ext cx="868680" cy="1188720"/>
          </a:xfrm>
          <a:prstGeom prst="line">
            <a:avLst/>
          </a:prstGeom>
          <a:ln w="22859">
            <a:solidFill>
              <a:srgbClr val="009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783080" y="3657600"/>
            <a:ext cx="1737360" cy="1188720"/>
          </a:xfrm>
          <a:prstGeom prst="line">
            <a:avLst/>
          </a:prstGeom>
          <a:ln w="7620">
            <a:solidFill>
              <a:srgbClr val="003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783080" y="3657600"/>
            <a:ext cx="2606040" cy="1188720"/>
          </a:xfrm>
          <a:prstGeom prst="line">
            <a:avLst/>
          </a:prstGeom>
          <a:ln w="6350">
            <a:solidFill>
              <a:srgbClr val="001E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783080" y="3657600"/>
            <a:ext cx="3474720" cy="1188720"/>
          </a:xfrm>
          <a:prstGeom prst="line">
            <a:avLst/>
          </a:prstGeom>
          <a:ln w="15240">
            <a:solidFill>
              <a:srgbClr val="006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81912" y="3456432"/>
            <a:ext cx="402336" cy="40233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508760" y="3383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processing 'cat', the model attends most to itself and 'sat'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TRANSFORMER BLOCK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98079" y="1920240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498079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
Embedding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961120" y="2560320"/>
            <a:ext cx="0" cy="109728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7498079" y="2670048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98079" y="267004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Multi-Head
Attention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961120" y="3310128"/>
            <a:ext cx="0" cy="109728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498079" y="3419856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2822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498079" y="3419856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&amp; Norm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961120" y="4059936"/>
            <a:ext cx="0" cy="109728"/>
          </a:xfrm>
          <a:prstGeom prst="line">
            <a:avLst/>
          </a:prstGeom>
          <a:ln w="190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7498079" y="4169664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498079" y="416966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 Forward
Network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961120" y="4809744"/>
            <a:ext cx="0" cy="109728"/>
          </a:xfrm>
          <a:prstGeom prst="line">
            <a:avLst/>
          </a:prstGeom>
          <a:ln w="1905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498079" y="4919472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2822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498079" y="491947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&amp; Norm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961120" y="5559552"/>
            <a:ext cx="0" cy="109728"/>
          </a:xfrm>
          <a:prstGeom prst="line">
            <a:avLst/>
          </a:prstGeom>
          <a:ln w="190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498079" y="5669280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498079" y="5669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5760" y="5760720"/>
            <a:ext cx="11430000" cy="82296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65760" y="5760720"/>
            <a:ext cx="109728" cy="82296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21792" y="587044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Transformers Won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1792" y="623620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Parallelizable (unlike RNNs), capture long-range dependencies, scale well with data and compute. GPT, Claude, Gemini, BERT, and most modern AI models use transformers.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Real-World Applications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Neural networks are everywhere, solving problems across every industry.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463040"/>
            <a:ext cx="3749039" cy="24688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4320" y="1463040"/>
            <a:ext cx="3749039" cy="4114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432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COMPUTER VISION</a:t>
            </a:r>
          </a:p>
        </p:txBody>
      </p:sp>
      <p:sp>
        <p:nvSpPr>
          <p:cNvPr id="43" name="Oval 42"/>
          <p:cNvSpPr/>
          <p:nvPr/>
        </p:nvSpPr>
        <p:spPr>
          <a:xfrm>
            <a:off x="3090672" y="2359152"/>
            <a:ext cx="768096" cy="768096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90672" y="2423160"/>
            <a:ext cx="768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CNN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1965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classification
Object detection
Facial recognition
Medical imaging
Self-driving cars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1463040"/>
            <a:ext cx="3749039" cy="246888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206240" y="1463040"/>
            <a:ext cx="3749039" cy="41148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0624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NATURAL LANGUAGE</a:t>
            </a:r>
          </a:p>
        </p:txBody>
      </p:sp>
      <p:sp>
        <p:nvSpPr>
          <p:cNvPr id="49" name="Oval 48"/>
          <p:cNvSpPr/>
          <p:nvPr/>
        </p:nvSpPr>
        <p:spPr>
          <a:xfrm>
            <a:off x="7022592" y="2359152"/>
            <a:ext cx="768096" cy="768096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022592" y="2423160"/>
            <a:ext cx="768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RNN/
Trfm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1965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Translation
Chatbots (GPT, Claude)
Sentiment analysis
Text summarization
Code generation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1463040"/>
            <a:ext cx="3749039" cy="246888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138160" y="1463040"/>
            <a:ext cx="3749039" cy="4114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3816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AUDIO &amp; SPEECH</a:t>
            </a:r>
          </a:p>
        </p:txBody>
      </p:sp>
      <p:sp>
        <p:nvSpPr>
          <p:cNvPr id="55" name="Oval 54"/>
          <p:cNvSpPr/>
          <p:nvPr/>
        </p:nvSpPr>
        <p:spPr>
          <a:xfrm>
            <a:off x="10954512" y="2359152"/>
            <a:ext cx="768096" cy="76809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954512" y="2423160"/>
            <a:ext cx="768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RNN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1965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Speech recognition
Music generation
Voice assistants
Sound classification
Audio enhancement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4069080"/>
            <a:ext cx="3749039" cy="246888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74320" y="4069080"/>
            <a:ext cx="3749039" cy="41148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74320" y="40690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SCIENCE &amp; HEALTH</a:t>
            </a:r>
          </a:p>
        </p:txBody>
      </p:sp>
      <p:sp>
        <p:nvSpPr>
          <p:cNvPr id="61" name="Oval 60"/>
          <p:cNvSpPr/>
          <p:nvPr/>
        </p:nvSpPr>
        <p:spPr>
          <a:xfrm>
            <a:off x="3090672" y="4965192"/>
            <a:ext cx="768096" cy="768096"/>
          </a:xfrm>
          <a:prstGeom prst="ellipse">
            <a:avLst/>
          </a:prstGeom>
          <a:solidFill>
            <a:srgbClr val="321406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090672" y="5029200"/>
            <a:ext cx="768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GNN/
MLP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4572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Drug discovery
Protein folding
Climate modeling
Genomics
Medical diagnosis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06240" y="4069080"/>
            <a:ext cx="3749039" cy="246888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206240" y="4069080"/>
            <a:ext cx="3749039" cy="41148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06240" y="40690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</a:t>
            </a:r>
          </a:p>
        </p:txBody>
      </p:sp>
      <p:sp>
        <p:nvSpPr>
          <p:cNvPr id="67" name="Oval 66"/>
          <p:cNvSpPr/>
          <p:nvPr/>
        </p:nvSpPr>
        <p:spPr>
          <a:xfrm>
            <a:off x="7022592" y="4965192"/>
            <a:ext cx="768096" cy="768096"/>
          </a:xfrm>
          <a:prstGeom prst="ellipse">
            <a:avLst/>
          </a:prstGeom>
          <a:solidFill>
            <a:srgbClr val="32081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022592" y="5029200"/>
            <a:ext cx="768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FNN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43400" y="4572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Fraud detection
Recommendation
Pricing optimization
Demand forecasting
Customer churn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38160" y="4069080"/>
            <a:ext cx="3749039" cy="2468880"/>
          </a:xfrm>
          <a:prstGeom prst="roundRect">
            <a:avLst>
              <a:gd name="adj" fmla="val 3000"/>
            </a:avLst>
          </a:prstGeom>
          <a:solidFill>
            <a:srgbClr val="002422"/>
          </a:solidFill>
          <a:ln w="19050">
            <a:solidFill>
              <a:srgbClr val="00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138160" y="4069080"/>
            <a:ext cx="3749039" cy="411480"/>
          </a:xfrm>
          <a:prstGeom prst="rect">
            <a:avLst/>
          </a:prstGeom>
          <a:solidFill>
            <a:srgbClr val="00E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138160" y="40690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CREATIVE AI</a:t>
            </a:r>
          </a:p>
        </p:txBody>
      </p:sp>
      <p:sp>
        <p:nvSpPr>
          <p:cNvPr id="73" name="Oval 72"/>
          <p:cNvSpPr/>
          <p:nvPr/>
        </p:nvSpPr>
        <p:spPr>
          <a:xfrm>
            <a:off x="10954512" y="4965192"/>
            <a:ext cx="768096" cy="768096"/>
          </a:xfrm>
          <a:prstGeom prst="ellipse">
            <a:avLst/>
          </a:prstGeom>
          <a:solidFill>
            <a:srgbClr val="002422"/>
          </a:solidFill>
          <a:ln w="25400">
            <a:solidFill>
              <a:srgbClr val="00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954512" y="5029200"/>
            <a:ext cx="768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E8C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GAN/
Diff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4572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generation
Video synthesis
Music composition
Game design
Art and style transfer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Pass: Single Neuron Example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Let's trace exact numbers through one neuron step by step.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463040"/>
            <a:ext cx="6400800" cy="51206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NEURON COMPUTATION</a:t>
            </a:r>
          </a:p>
        </p:txBody>
      </p:sp>
      <p:sp>
        <p:nvSpPr>
          <p:cNvPr id="42" name="Oval 41"/>
          <p:cNvSpPr/>
          <p:nvPr/>
        </p:nvSpPr>
        <p:spPr>
          <a:xfrm>
            <a:off x="804672" y="2084832"/>
            <a:ext cx="585216" cy="58521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4672" y="2121408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
0.5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89888" y="2377440"/>
            <a:ext cx="1810512" cy="1097280"/>
          </a:xfrm>
          <a:prstGeom prst="line">
            <a:avLst/>
          </a:prstGeom>
          <a:ln w="190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737360" y="20574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w1=0.4</a:t>
            </a:r>
          </a:p>
        </p:txBody>
      </p:sp>
      <p:sp>
        <p:nvSpPr>
          <p:cNvPr id="46" name="Oval 45"/>
          <p:cNvSpPr/>
          <p:nvPr/>
        </p:nvSpPr>
        <p:spPr>
          <a:xfrm>
            <a:off x="804672" y="3182112"/>
            <a:ext cx="585216" cy="58521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4672" y="3218688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
0.8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89888" y="3474720"/>
            <a:ext cx="1810512" cy="0"/>
          </a:xfrm>
          <a:prstGeom prst="line">
            <a:avLst/>
          </a:prstGeom>
          <a:ln w="190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737360" y="3063241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w2=0.6</a:t>
            </a:r>
          </a:p>
        </p:txBody>
      </p:sp>
      <p:sp>
        <p:nvSpPr>
          <p:cNvPr id="50" name="Oval 49"/>
          <p:cNvSpPr/>
          <p:nvPr/>
        </p:nvSpPr>
        <p:spPr>
          <a:xfrm>
            <a:off x="804672" y="4279392"/>
            <a:ext cx="585216" cy="585216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4672" y="4315968"/>
            <a:ext cx="585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x3
-0.2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1389888" y="3474720"/>
            <a:ext cx="1810512" cy="1097280"/>
          </a:xfrm>
          <a:prstGeom prst="line">
            <a:avLst/>
          </a:prstGeom>
          <a:ln w="190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737360" y="4069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w3=-0.3</a:t>
            </a:r>
          </a:p>
        </p:txBody>
      </p:sp>
      <p:sp>
        <p:nvSpPr>
          <p:cNvPr id="54" name="Oval 53"/>
          <p:cNvSpPr/>
          <p:nvPr/>
        </p:nvSpPr>
        <p:spPr>
          <a:xfrm>
            <a:off x="3017520" y="3017520"/>
            <a:ext cx="914400" cy="91440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017520" y="3200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
+bias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4114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8C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= 0.1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931920" y="3474720"/>
            <a:ext cx="822960" cy="0"/>
          </a:xfrm>
          <a:prstGeom prst="line">
            <a:avLst/>
          </a:prstGeom>
          <a:ln w="25400">
            <a:solidFill>
              <a:srgbClr val="A8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754880" y="3063240"/>
            <a:ext cx="1097280" cy="822960"/>
          </a:xfrm>
          <a:prstGeom prst="roundRect">
            <a:avLst>
              <a:gd name="adj" fmla="val 5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54880" y="30632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ReLU
f(z)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852160" y="3474720"/>
            <a:ext cx="548640" cy="0"/>
          </a:xfrm>
          <a:prstGeom prst="line">
            <a:avLst/>
          </a:prstGeom>
          <a:ln w="2540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94360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
a = 0.72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STEP-BY-STEP CALCULATION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0" y="1920240"/>
            <a:ext cx="5029200" cy="8686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858000" y="1920240"/>
            <a:ext cx="109728" cy="8686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14032" y="202996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1: Multiply inputs by weights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4032" y="23957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x1*w1 = 0.5 * 0.4 = 0.20
x2*w2 = 0.8 * 0.6 = 0.48
x3*w3 = -0.2 * -0.3 = 0.06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58000" y="2907792"/>
            <a:ext cx="5029200" cy="86868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858000" y="2907792"/>
            <a:ext cx="109728" cy="86868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114032" y="301752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2: Sum all products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14032" y="3383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 = 0.20 + 0.48 + 0.06 = 0.74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58000" y="3895344"/>
            <a:ext cx="5029200" cy="868680"/>
          </a:xfrm>
          <a:prstGeom prst="roundRect">
            <a:avLst>
              <a:gd name="adj" fmla="val 3000"/>
            </a:avLst>
          </a:prstGeom>
          <a:solidFill>
            <a:srgbClr val="002422"/>
          </a:solidFill>
          <a:ln w="19050">
            <a:solidFill>
              <a:srgbClr val="00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858000" y="3895344"/>
            <a:ext cx="109728" cy="868680"/>
          </a:xfrm>
          <a:prstGeom prst="rect">
            <a:avLst/>
          </a:prstGeom>
          <a:solidFill>
            <a:srgbClr val="00E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114032" y="40050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8C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3: Add bias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14032" y="43708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sum + bias = 0.74 + 0.1 = 0.84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58000" y="4882896"/>
            <a:ext cx="5029200" cy="86868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858000" y="4882896"/>
            <a:ext cx="109728" cy="8686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14032" y="499262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4: Apply activation (ReLU)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14032" y="535838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= ReLU(0.84) = max(0, 0.84) = 0.84
(Since 0.84 &gt; 0, ReLU passes it through)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58000" y="5870448"/>
            <a:ext cx="5029200" cy="86868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858000" y="5870448"/>
            <a:ext cx="109728" cy="86868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114032" y="598017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Result: Output = 0.84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14032" y="63459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value becomes the input to the next
layer's neurons via new weighted connections.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Pass: Full Network Example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flows through a 3-layer network: 2 inputs -&gt; 2 hidden -&gt; 1 output.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371600"/>
            <a:ext cx="11612880" cy="530352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1520" y="230428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
1.0</a:t>
            </a:r>
          </a:p>
        </p:txBody>
      </p:sp>
      <p:sp>
        <p:nvSpPr>
          <p:cNvPr id="43" name="Oval 42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1520" y="395020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
0.5</a:t>
            </a:r>
          </a:p>
        </p:txBody>
      </p:sp>
      <p:sp>
        <p:nvSpPr>
          <p:cNvPr id="45" name="Oval 44"/>
          <p:cNvSpPr/>
          <p:nvPr/>
        </p:nvSpPr>
        <p:spPr>
          <a:xfrm>
            <a:off x="4206240" y="2194560"/>
            <a:ext cx="731520" cy="7315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206240" y="230428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h1
0.83</a:t>
            </a:r>
          </a:p>
        </p:txBody>
      </p:sp>
      <p:sp>
        <p:nvSpPr>
          <p:cNvPr id="47" name="Oval 46"/>
          <p:cNvSpPr/>
          <p:nvPr/>
        </p:nvSpPr>
        <p:spPr>
          <a:xfrm>
            <a:off x="4206240" y="3840480"/>
            <a:ext cx="731520" cy="7315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06240" y="395020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h2
0.62</a:t>
            </a:r>
          </a:p>
        </p:txBody>
      </p:sp>
      <p:sp>
        <p:nvSpPr>
          <p:cNvPr id="49" name="Oval 48"/>
          <p:cNvSpPr/>
          <p:nvPr/>
        </p:nvSpPr>
        <p:spPr>
          <a:xfrm>
            <a:off x="7680960" y="3017520"/>
            <a:ext cx="731520" cy="731520"/>
          </a:xfrm>
          <a:prstGeom prst="ellipse">
            <a:avLst/>
          </a:prstGeom>
          <a:solidFill>
            <a:srgbClr val="0B162C"/>
          </a:solidFill>
          <a:ln w="317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80960" y="312724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y_hat
0.73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417319" y="2560320"/>
            <a:ext cx="2834641" cy="0"/>
          </a:xfrm>
          <a:prstGeom prst="line">
            <a:avLst/>
          </a:prstGeom>
          <a:ln w="1270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560320" y="2286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w1=0.3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417319" y="2560320"/>
            <a:ext cx="2834641" cy="1645920"/>
          </a:xfrm>
          <a:prstGeom prst="line">
            <a:avLst/>
          </a:prstGeom>
          <a:ln w="1270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560320" y="3108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w2=0.5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417319" y="2560320"/>
            <a:ext cx="2834641" cy="1645920"/>
          </a:xfrm>
          <a:prstGeom prst="line">
            <a:avLst/>
          </a:prstGeom>
          <a:ln w="1270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560320" y="3108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w3=0.4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417319" y="4206240"/>
            <a:ext cx="2834641" cy="0"/>
          </a:xfrm>
          <a:prstGeom prst="line">
            <a:avLst/>
          </a:prstGeom>
          <a:ln w="1270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560320" y="39319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w4=-0.2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892040" y="2560320"/>
            <a:ext cx="2834640" cy="822960"/>
          </a:xfrm>
          <a:prstGeom prst="line">
            <a:avLst/>
          </a:prstGeom>
          <a:ln w="1270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35040" y="2697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w5=0.6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4892040" y="3383280"/>
            <a:ext cx="2834640" cy="822960"/>
          </a:xfrm>
          <a:prstGeom prst="line">
            <a:avLst/>
          </a:prstGeom>
          <a:ln w="1270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035040" y="35204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w6=0.3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0" y="4846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(ReLU)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4846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 (Sigmoid)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COMPUTATION TRACE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1828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neuron h1: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2057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1.0*0.3 + 0.5*0.4 + 0.1
= 0.3 + 0.2 + 0.1 = 0.6
h1 = ReLU(0.6) = 0.6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2880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neuron h2: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1.0*0.5 + 0.5*(-0.2) + 0.1
= 0.5 - 0.1 + 0.1 = 0.5
h2 = ReLU(0.5) = 0.5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3931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 neuron: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4160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 = 0.6*0.6 + 0.5*0.3 + 0.1
= 0.36 + 0.15 + 0.1 = 0.61
y = sigmoid(0.61) = 0.65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4983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Prediction: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20" y="5212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y_hat = 0.65
True label y = 1.0
Loss = (1-0.65)^2 = 0.12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5577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 &gt;&gt;&gt;&gt;&gt;&gt;&gt;&gt;&gt;&gt;&gt;&gt;&gt;&gt;&gt;&gt;&gt;&gt;&gt;&gt;&gt;&gt;&gt;&gt;&gt;&gt;&gt;&gt;&gt;&gt;&gt;&gt;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86800" y="5486400"/>
            <a:ext cx="3017520" cy="4572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68680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= 0.12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5989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Goal: make this number smaller!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Loss: Measuring How Wrong We 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loss function quantifies the gap between prediction and truth.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11430000" cy="914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9144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Do We Need Loss?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 the forward pass, we have a prediction. But the network doesn't 'know' if it's good or bad.
The loss function gives a single number: 0 = perfect, higher = worse. Training minimizes this number.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2651760"/>
            <a:ext cx="3749039" cy="384048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74320" y="2651760"/>
            <a:ext cx="3749039" cy="54864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5760" y="2651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MSE
(Mean Squared Error)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29184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regression (predicting numbers).
Prediction: 7.2
Truth: 8.0
Loss = (8.0 - 7.2)^2
     = (0.8)^2
     = 0.64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2651760"/>
            <a:ext cx="3749039" cy="384048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206240" y="2651760"/>
            <a:ext cx="3749039" cy="54864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297680" y="2651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BINARY
CROSS-ENTROPY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329184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yes/no classification.
Prediction: 0.65 (65% cat)
Truth: 1.0 (is a cat)
Loss = -log(0.65)
     = 0.43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2651760"/>
            <a:ext cx="3749039" cy="384048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138160" y="2651760"/>
            <a:ext cx="3749039" cy="54864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29600" y="2651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CATEGORICAL
CROSS-ENTROPY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29184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multi-class (dog/cat/bird).
Predicted: [0.2, 0.65, 0.15]
Truth: [0, 1, 0] (cat)
Loss = -log(0.65)
     = 0.43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Backward Pass: The Core Idea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 the forward pass, we reverse direction to figure out WHO caused the error.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11430000" cy="10058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0584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437386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Key Question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72085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each weight in the network: 'If I increase this weight slightly, does the loss go UP or DOWN?'
The answer is the GRADIENT: a number that tells us the direction and magnitude of change needed.
Positive gradient -&gt; weight is making loss worse. Negative gradient -&gt; weight is helping.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743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BLAME DISTRIBUTION: WHO CAUSED THE ERROR?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108960"/>
            <a:ext cx="11612880" cy="347472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601200" y="384048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01200" y="3840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= 0.12
(Error!)</a:t>
            </a:r>
          </a:p>
        </p:txBody>
      </p:sp>
      <p:sp>
        <p:nvSpPr>
          <p:cNvPr id="48" name="Oval 47"/>
          <p:cNvSpPr/>
          <p:nvPr/>
        </p:nvSpPr>
        <p:spPr>
          <a:xfrm>
            <a:off x="7452360" y="3886200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52360" y="3931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y=0.65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8092440" y="4206240"/>
            <a:ext cx="1508760" cy="0"/>
          </a:xfrm>
          <a:prstGeom prst="line">
            <a:avLst/>
          </a:prstGeom>
          <a:ln w="3175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29600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dL/dy = -1.08</a:t>
            </a:r>
          </a:p>
        </p:txBody>
      </p:sp>
      <p:sp>
        <p:nvSpPr>
          <p:cNvPr id="52" name="Oval 51"/>
          <p:cNvSpPr/>
          <p:nvPr/>
        </p:nvSpPr>
        <p:spPr>
          <a:xfrm>
            <a:off x="4709160" y="3154680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846320" y="3337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h1</a:t>
            </a:r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5349240" y="3474720"/>
            <a:ext cx="2103120" cy="731520"/>
          </a:xfrm>
          <a:prstGeom prst="line">
            <a:avLst/>
          </a:prstGeom>
          <a:ln w="1905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760720" y="3200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dL/dh1=-0.39</a:t>
            </a:r>
          </a:p>
        </p:txBody>
      </p:sp>
      <p:sp>
        <p:nvSpPr>
          <p:cNvPr id="56" name="Oval 55"/>
          <p:cNvSpPr/>
          <p:nvPr/>
        </p:nvSpPr>
        <p:spPr>
          <a:xfrm>
            <a:off x="4709160" y="4617720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4632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h2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5349240" y="4206240"/>
            <a:ext cx="2103120" cy="731520"/>
          </a:xfrm>
          <a:prstGeom prst="line">
            <a:avLst/>
          </a:prstGeom>
          <a:ln w="1905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760720" y="4663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dL/dh2=-0.19</a:t>
            </a:r>
          </a:p>
        </p:txBody>
      </p:sp>
      <p:sp>
        <p:nvSpPr>
          <p:cNvPr id="60" name="Oval 59"/>
          <p:cNvSpPr/>
          <p:nvPr/>
        </p:nvSpPr>
        <p:spPr>
          <a:xfrm>
            <a:off x="1965960" y="3154680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03120" y="3337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x1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2606040" y="3474720"/>
            <a:ext cx="2103120" cy="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606040" y="3474720"/>
            <a:ext cx="2103120" cy="146304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965960" y="4617720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10312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x2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2606040" y="3474720"/>
            <a:ext cx="2103120" cy="146304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606040" y="4937760"/>
            <a:ext cx="2103120" cy="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&lt;&lt;&lt;&lt;&lt;&lt;&lt;&lt;&lt;&lt;&lt;&lt;&lt;&lt;&lt;  BACKWARD (gradients flow right to left)  &lt;&lt;&lt;&lt;&lt;&lt;&lt;&lt;&lt;&lt;&lt;&lt;&lt;&lt;&lt;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3200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 Gradients: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3474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dL/dw1 = -0.39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367588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dL/dw2 = -0.19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38770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dL/dw3 = -0.20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40782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dL/dw4 = -0.10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42793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dL/dw5 = -0.65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dL/dw6 = -0.32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Chain Rule: The Math Behind Backpropagation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Calculus lets us compute how each weight affects the final loss, layer by layer.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11430000" cy="914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9144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Chain Rule in Plain English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A affects B, and B affects C, then we can compute how A affects C by multiplying the two effects.
dC/dA = dC/dB x dB/dA. This 'chains' together across all layers of the network.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651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CHAIN RULE APPLIED TO A NEURAL NETWORK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017520"/>
            <a:ext cx="11612880" cy="201168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31520" y="33832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152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
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3520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affects &gt;&gt;&gt;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66160" y="33832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6616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Weighted
Sum 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3520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affects &gt;&gt;&gt;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3832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0080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Activation
a = f(z)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520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affects &gt;&gt;&gt;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33832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321406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23544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
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dL/dw  =  dL/da  x  da/dz  x  dz/dw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WORKED EXAMPLE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5577840"/>
            <a:ext cx="11612880" cy="10058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57200" y="5623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63040" y="562356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2*(a - y)
= 2*(0.65 - 1.0)
= -0.70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63240" y="5852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5623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da/dz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0" y="562356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sigmoid'(z)
= a*(1-a)
= 0.65*0.35
= 0.228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97880" y="5852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5623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dz/dw5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562356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h1
= 0.6
(input to
this weight)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5852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5623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dL/dw5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60" y="562356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-0.70 * 0.228
  * 0.6
= -0.096
(the gradient!)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Backward Pass: Layer by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Gradients propagate from the output back through each layer to the input.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463040"/>
            <a:ext cx="3749039" cy="41148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4320" y="1463040"/>
            <a:ext cx="3749039" cy="4572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432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 LAYER</a:t>
            </a:r>
          </a:p>
        </p:txBody>
      </p:sp>
      <p:sp>
        <p:nvSpPr>
          <p:cNvPr id="43" name="Oval 42"/>
          <p:cNvSpPr/>
          <p:nvPr/>
        </p:nvSpPr>
        <p:spPr>
          <a:xfrm>
            <a:off x="3328416" y="186537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328416" y="1920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210312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Gradient starts here.
dL/dy = prediction - truth
= 0.65 - 1.0 = -0.35
This is the initial 'error signal'
that flows backward.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1463040"/>
            <a:ext cx="3749039" cy="41148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206240" y="1463040"/>
            <a:ext cx="3749039" cy="4572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0624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LAYER 2</a:t>
            </a:r>
          </a:p>
        </p:txBody>
      </p:sp>
      <p:sp>
        <p:nvSpPr>
          <p:cNvPr id="49" name="Oval 48"/>
          <p:cNvSpPr/>
          <p:nvPr/>
        </p:nvSpPr>
        <p:spPr>
          <a:xfrm>
            <a:off x="7260336" y="186537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60336" y="1920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210312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 gradient from output.
Multiply by:
- Activation derivative
- Weight connecting to output
dL/dh = dL/dy * dy/dh
Split gradient to all inputs.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1463040"/>
            <a:ext cx="3749039" cy="41148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138160" y="1463040"/>
            <a:ext cx="3749039" cy="4572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3816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LAYER 1</a:t>
            </a:r>
          </a:p>
        </p:txBody>
      </p:sp>
      <p:sp>
        <p:nvSpPr>
          <p:cNvPr id="55" name="Oval 54"/>
          <p:cNvSpPr/>
          <p:nvPr/>
        </p:nvSpPr>
        <p:spPr>
          <a:xfrm>
            <a:off x="11192256" y="186537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192256" y="1920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210312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 gradient from layer 2.
Same process: multiply by
activation derivative and weight.
Each weight gets its own
gradient value.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&lt;&lt;&lt;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&lt;&lt;&lt;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852160"/>
            <a:ext cx="11612880" cy="73152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74320" y="5852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BACKWARD PASS SUMMARY:  Loss -&gt; Output gradient -&gt; Hidden gradients -&gt; Weight gradients -&gt; Ready to update!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 Update: Gradient Descent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 that we have gradients, we update each weight to reduce the loss.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1554480"/>
            <a:ext cx="10332720" cy="109728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w_new  =  w_old  -  learning_rate  x  gradient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Move each weight in the direction that REDUCES the loss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2926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WORKED EXAMPLE  (learning rate = 0.1)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3291840"/>
            <a:ext cx="11612880" cy="320040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3383280"/>
            <a:ext cx="1783080" cy="347472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" y="3383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1719" y="3383280"/>
            <a:ext cx="1783080" cy="347472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31719" y="3383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Old Value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38" y="3383280"/>
            <a:ext cx="1783080" cy="347472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206238" y="3383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Gradient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57" y="3383280"/>
            <a:ext cx="1783080" cy="347472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80757" y="3383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 x Grad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76" y="3383280"/>
            <a:ext cx="1783080" cy="347472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55276" y="3383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Value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29795" y="3383280"/>
            <a:ext cx="1783080" cy="347472"/>
          </a:xfrm>
          <a:prstGeom prst="rect">
            <a:avLst/>
          </a:prstGeom>
          <a:solidFill>
            <a:srgbClr val="182844"/>
          </a:solidFill>
          <a:ln w="635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829795" y="3383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37947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19" y="37947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38" y="37947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0757" y="37947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6" y="37947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0.312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795" y="37947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1056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31719" y="41056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38" y="41056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80757" y="41056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6" y="41056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0.508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29795" y="41056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4165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1719" y="44165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38" y="44165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80757" y="44165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6" y="44165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0.415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29795" y="44165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47274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719" y="47274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06238" y="47274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80757" y="47274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55276" y="47274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-0.204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29795" y="47274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503834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31719" y="503834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0.60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06238" y="503834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-0.096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80757" y="503834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-0.0096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55276" y="503834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0.610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29795" y="503834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5349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8C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31719" y="5349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6238" y="5349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-0.048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80757" y="5349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-0.0048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55276" y="5349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0.305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829795" y="5349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+0.005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566013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31719" y="566013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6238" y="566013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80757" y="566013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-0.006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55276" y="566013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0.106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29795" y="566013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+0.006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59710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31719" y="59710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06238" y="59710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80757" y="59710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-0.003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55276" y="59710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0.103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29795" y="59710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+0.003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74320" y="6537960"/>
            <a:ext cx="5669280" cy="13716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274320" y="6537960"/>
            <a:ext cx="109728" cy="13716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30352" y="66476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30352" y="7013448"/>
            <a:ext cx="53035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Rate: The Step Size 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most important hyperparameter - controls how fast (or slow) the network learns.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463040"/>
            <a:ext cx="11430000" cy="100584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109728" cy="100584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157276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Learning Rate?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19385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small positive number (typically 0.001 to 0.01) that multiplies the gradient before updating weights.
Think of it as the 'step size' when walking downhill. Too big = overshoot. Too small = crawl.
Symbol: alpha (a) or eta (n). Notation: w = w - lr * gradient.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743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SAME GRADIENT, DIFFERENT LEARNING RATES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108960"/>
            <a:ext cx="11612880" cy="347472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57200" y="320040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200" y="3200400"/>
            <a:ext cx="2743200" cy="38404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7200" y="3200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 = 0.001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 = 0.50 - 0.001 * (-2.0)
= 0.50 + 0.002
= 0.502
Tiny step: +0.002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Very cautious.
Safe but slow.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37560" y="320040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337560" y="3200400"/>
            <a:ext cx="2743200" cy="38404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337560" y="3200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 = 0.01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 = 0.50 - 0.01 * (-2.0)
= 0.50 + 0.02
= 0.52
Moderate step: +0.02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Good balance.
Smooth convergence.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20040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17920" y="3200400"/>
            <a:ext cx="2743200" cy="38404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17920" y="3200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 = 0.1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 = 0.50 - 0.1 * (-2.0)
= 0.50 + 0.2
= 0.70
Big step: +0.2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Aggressive.
Risk of overshooting.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98280" y="320040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098280" y="3200400"/>
            <a:ext cx="2743200" cy="384048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098280" y="3200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40A1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LR = 1.0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 = 0.50 - 1.0 * (-2.0)
= 0.50 + 2.0
= 2.50
Huge step: +2.0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2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Way too big!
Will diverge.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00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use the same gradient = -2.0, but the weight change varies by 1000x depending on learning rate!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Rate Too High: Overshooting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 steps cause the loss to bounce around and never converge.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463040"/>
            <a:ext cx="5943600" cy="51206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LANDSCAPE (LR = 0.5)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3968496"/>
            <a:ext cx="219456" cy="28041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8096" y="4248913"/>
            <a:ext cx="219456" cy="256031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87552" y="4504944"/>
            <a:ext cx="219455" cy="23164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07007" y="4736592"/>
            <a:ext cx="219457" cy="207264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26464" y="4943856"/>
            <a:ext cx="219455" cy="182880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45919" y="5126736"/>
            <a:ext cx="219457" cy="158496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65376" y="5285232"/>
            <a:ext cx="219455" cy="13411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084831" y="5419344"/>
            <a:ext cx="219457" cy="10972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304288" y="5529072"/>
            <a:ext cx="219456" cy="85344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523744" y="5614416"/>
            <a:ext cx="219456" cy="60960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743200" y="5675376"/>
            <a:ext cx="219456" cy="3657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962656" y="5711953"/>
            <a:ext cx="219456" cy="12191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82112" y="5711953"/>
            <a:ext cx="219456" cy="12191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401568" y="5675376"/>
            <a:ext cx="219456" cy="3657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621024" y="5614416"/>
            <a:ext cx="219455" cy="60960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40479" y="5529072"/>
            <a:ext cx="219456" cy="85344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059935" y="5419344"/>
            <a:ext cx="219457" cy="10972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279392" y="5285232"/>
            <a:ext cx="219456" cy="13411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498848" y="5126736"/>
            <a:ext cx="219455" cy="158496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718303" y="4943856"/>
            <a:ext cx="219456" cy="182880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937759" y="4736592"/>
            <a:ext cx="219457" cy="207264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157216" y="4504944"/>
            <a:ext cx="219455" cy="23164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76671" y="4248913"/>
            <a:ext cx="219456" cy="256031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353312" y="4779264"/>
            <a:ext cx="146304" cy="146304"/>
          </a:xfrm>
          <a:prstGeom prst="ellipse">
            <a:avLst/>
          </a:prstGeom>
          <a:solidFill>
            <a:srgbClr val="FF3D8E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1426464" y="4852416"/>
            <a:ext cx="3072384" cy="341376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4425696" y="5120640"/>
            <a:ext cx="146304" cy="146304"/>
          </a:xfrm>
          <a:prstGeom prst="ellipse">
            <a:avLst/>
          </a:prstGeom>
          <a:solidFill>
            <a:srgbClr val="FF3D8E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8" name="Connector 67"/>
          <p:cNvCxnSpPr/>
          <p:nvPr/>
        </p:nvCxnSpPr>
        <p:spPr>
          <a:xfrm flipH="1">
            <a:off x="1865376" y="5193792"/>
            <a:ext cx="2633472" cy="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792224" y="5120640"/>
            <a:ext cx="146304" cy="146304"/>
          </a:xfrm>
          <a:prstGeom prst="ellipse">
            <a:avLst/>
          </a:prstGeom>
          <a:solidFill>
            <a:srgbClr val="FF3D8E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1865376" y="5193792"/>
            <a:ext cx="2194559" cy="24384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986783" y="5364480"/>
            <a:ext cx="146304" cy="146304"/>
          </a:xfrm>
          <a:prstGeom prst="ellipse">
            <a:avLst/>
          </a:prstGeom>
          <a:solidFill>
            <a:srgbClr val="FF3D8E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2" name="Connector 71"/>
          <p:cNvCxnSpPr/>
          <p:nvPr/>
        </p:nvCxnSpPr>
        <p:spPr>
          <a:xfrm flipH="1">
            <a:off x="2304288" y="5437632"/>
            <a:ext cx="1755647" cy="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2231136" y="5364480"/>
            <a:ext cx="146304" cy="146304"/>
          </a:xfrm>
          <a:prstGeom prst="ellipse">
            <a:avLst/>
          </a:prstGeom>
          <a:solidFill>
            <a:srgbClr val="FF3D8E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2304288" y="5437632"/>
            <a:ext cx="1316736" cy="14630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5720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Ball bounces back and forth,
never settling in the minimum!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217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 value &gt;&gt;&gt;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OVER TRAINING EPOCHS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0" y="1828800"/>
            <a:ext cx="5486400" cy="320040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6638544" y="394106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6885432" y="3373375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2" name="Connector 81"/>
          <p:cNvCxnSpPr/>
          <p:nvPr/>
        </p:nvCxnSpPr>
        <p:spPr>
          <a:xfrm flipV="1">
            <a:off x="6675120" y="3409951"/>
            <a:ext cx="246888" cy="567689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132320" y="3738898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922008" y="3409951"/>
            <a:ext cx="246888" cy="365523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379207" y="448970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7168896" y="3775474"/>
            <a:ext cx="246887" cy="750806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7626095" y="4356670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8" name="Connector 87"/>
          <p:cNvCxnSpPr/>
          <p:nvPr/>
        </p:nvCxnSpPr>
        <p:spPr>
          <a:xfrm flipV="1">
            <a:off x="7415783" y="4393246"/>
            <a:ext cx="246888" cy="133034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7872984" y="3490503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0" name="Connector 89"/>
          <p:cNvCxnSpPr/>
          <p:nvPr/>
        </p:nvCxnSpPr>
        <p:spPr>
          <a:xfrm flipV="1">
            <a:off x="7662671" y="3527079"/>
            <a:ext cx="246889" cy="866167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8119872" y="3331537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2" name="Connector 91"/>
          <p:cNvCxnSpPr/>
          <p:nvPr/>
        </p:nvCxnSpPr>
        <p:spPr>
          <a:xfrm flipV="1">
            <a:off x="7909560" y="3368113"/>
            <a:ext cx="246888" cy="158966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8366760" y="4212502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4" name="Connector 93"/>
          <p:cNvCxnSpPr/>
          <p:nvPr/>
        </p:nvCxnSpPr>
        <p:spPr>
          <a:xfrm>
            <a:off x="8156448" y="3368113"/>
            <a:ext cx="246888" cy="880965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8613648" y="448970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8403336" y="4249078"/>
            <a:ext cx="246888" cy="277202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860536" y="3914316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8" name="Connector 97"/>
          <p:cNvCxnSpPr/>
          <p:nvPr/>
        </p:nvCxnSpPr>
        <p:spPr>
          <a:xfrm flipV="1">
            <a:off x="8650224" y="3950892"/>
            <a:ext cx="246888" cy="575388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9107424" y="312583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0" name="Connector 99"/>
          <p:cNvCxnSpPr/>
          <p:nvPr/>
        </p:nvCxnSpPr>
        <p:spPr>
          <a:xfrm flipV="1">
            <a:off x="8897112" y="3162410"/>
            <a:ext cx="246888" cy="788482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9354312" y="3683295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9144000" y="3162410"/>
            <a:ext cx="246888" cy="557461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9601200" y="448970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9390888" y="3719871"/>
            <a:ext cx="246888" cy="806409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9848088" y="4488593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6" name="Connector 105"/>
          <p:cNvCxnSpPr/>
          <p:nvPr/>
        </p:nvCxnSpPr>
        <p:spPr>
          <a:xfrm flipV="1">
            <a:off x="9637776" y="4525169"/>
            <a:ext cx="246888" cy="1111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10094976" y="3305005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8" name="Connector 107"/>
          <p:cNvCxnSpPr/>
          <p:nvPr/>
        </p:nvCxnSpPr>
        <p:spPr>
          <a:xfrm flipV="1">
            <a:off x="9884664" y="3341581"/>
            <a:ext cx="246888" cy="1183588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341864" y="3137775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10131552" y="3174351"/>
            <a:ext cx="246888" cy="16723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10588752" y="4333671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2" name="Connector 111"/>
          <p:cNvCxnSpPr/>
          <p:nvPr/>
        </p:nvCxnSpPr>
        <p:spPr>
          <a:xfrm>
            <a:off x="10378440" y="3174351"/>
            <a:ext cx="246888" cy="1195896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10835640" y="4489704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4" name="Connector 113"/>
          <p:cNvCxnSpPr/>
          <p:nvPr/>
        </p:nvCxnSpPr>
        <p:spPr>
          <a:xfrm>
            <a:off x="10625328" y="4370247"/>
            <a:ext cx="246888" cy="156033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11082528" y="3871006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10872216" y="3907582"/>
            <a:ext cx="246888" cy="618698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11329416" y="2876946"/>
            <a:ext cx="73152" cy="73152"/>
          </a:xfrm>
          <a:prstGeom prst="ellipse">
            <a:avLst/>
          </a:prstGeom>
          <a:solidFill>
            <a:srgbClr val="FF3D8E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8" name="Connector 117"/>
          <p:cNvCxnSpPr/>
          <p:nvPr/>
        </p:nvCxnSpPr>
        <p:spPr>
          <a:xfrm flipV="1">
            <a:off x="11119104" y="2913522"/>
            <a:ext cx="246888" cy="994060"/>
          </a:xfrm>
          <a:prstGeom prst="line">
            <a:avLst/>
          </a:prstGeom>
          <a:ln w="12700">
            <a:solidFill>
              <a:srgbClr val="FF3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6675120" y="4846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goes UP and DOWN wildly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8368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SYMPTOMS OF HIGH LR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766560" y="5577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 Loss oscillates or increases over time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66560" y="585215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 Loss suddenly explodes to NaN or infinity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66560" y="612647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 Accuracy jumps around instead of improving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66560" y="6400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 Training is unstable and unpredictable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Rate Too Low: Stuck in Slow Motion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Tiny steps make training painfully slow and can trap the model in bad spots.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463040"/>
            <a:ext cx="5943600" cy="51206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LANDSCAPE (LR = 0.0001)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4157550"/>
            <a:ext cx="219456" cy="210085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8096" y="4367635"/>
            <a:ext cx="219456" cy="20928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87552" y="4576923"/>
            <a:ext cx="219455" cy="20610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07007" y="4783030"/>
            <a:ext cx="219457" cy="197860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26464" y="4980890"/>
            <a:ext cx="219455" cy="18241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45919" y="5163302"/>
            <a:ext cx="219457" cy="15854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65376" y="5321850"/>
            <a:ext cx="219455" cy="12621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084831" y="5448062"/>
            <a:ext cx="219457" cy="86616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304288" y="5534678"/>
            <a:ext cx="219456" cy="42161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523744" y="5573014"/>
            <a:ext cx="219456" cy="3825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43200" y="5525545"/>
            <a:ext cx="219456" cy="47469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962656" y="5440680"/>
            <a:ext cx="219456" cy="84865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82112" y="5339052"/>
            <a:ext cx="219456" cy="10162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401568" y="5241291"/>
            <a:ext cx="219456" cy="97761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621024" y="5153646"/>
            <a:ext cx="219455" cy="87645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40479" y="5078459"/>
            <a:ext cx="219456" cy="75187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059935" y="5014199"/>
            <a:ext cx="219457" cy="64260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279392" y="4956007"/>
            <a:ext cx="219456" cy="58192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498848" y="4896623"/>
            <a:ext cx="219455" cy="59384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718303" y="4827575"/>
            <a:ext cx="219456" cy="6904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937759" y="4740447"/>
            <a:ext cx="219457" cy="87128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157216" y="4628038"/>
            <a:ext cx="219455" cy="112409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76671" y="4485282"/>
            <a:ext cx="219456" cy="142756"/>
          </a:xfrm>
          <a:prstGeom prst="line">
            <a:avLst/>
          </a:prstGeom>
          <a:ln w="19050">
            <a:solidFill>
              <a:srgbClr val="587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249424" y="5388374"/>
            <a:ext cx="109728" cy="109728"/>
          </a:xfrm>
          <a:prstGeom prst="ellipse">
            <a:avLst/>
          </a:prstGeom>
          <a:solidFill>
            <a:srgbClr val="FFD6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2315260" y="5405831"/>
            <a:ext cx="109728" cy="109728"/>
          </a:xfrm>
          <a:prstGeom prst="ellipse">
            <a:avLst/>
          </a:prstGeom>
          <a:solidFill>
            <a:srgbClr val="FFD6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2381097" y="5419186"/>
            <a:ext cx="109728" cy="109728"/>
          </a:xfrm>
          <a:prstGeom prst="ellipse">
            <a:avLst/>
          </a:prstGeom>
          <a:solidFill>
            <a:srgbClr val="FFD6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2446934" y="5428392"/>
            <a:ext cx="109728" cy="109728"/>
          </a:xfrm>
          <a:prstGeom prst="ellipse">
            <a:avLst/>
          </a:prstGeom>
          <a:solidFill>
            <a:srgbClr val="FFD6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2512771" y="5433431"/>
            <a:ext cx="109728" cy="109728"/>
          </a:xfrm>
          <a:prstGeom prst="ellipse">
            <a:avLst/>
          </a:prstGeom>
          <a:solidFill>
            <a:srgbClr val="FFD6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578608" y="5434318"/>
            <a:ext cx="109728" cy="109728"/>
          </a:xfrm>
          <a:prstGeom prst="ellipse">
            <a:avLst/>
          </a:prstGeom>
          <a:solidFill>
            <a:srgbClr val="FFD60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5720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Ball barely moves!
Stuck in a local minimum.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
minimum
(can't reach)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7160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Stuck
here!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OVER TRAINING EPOCHS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0" y="1828800"/>
            <a:ext cx="5486400" cy="320040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6638544" y="3026664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6885432" y="3073958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6675120" y="3063240"/>
            <a:ext cx="246888" cy="47294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132320" y="3119853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6922008" y="3110534"/>
            <a:ext cx="246888" cy="45895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7379207" y="3164392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7168896" y="3156429"/>
            <a:ext cx="246887" cy="44539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626095" y="3207614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7415783" y="3200968"/>
            <a:ext cx="246888" cy="43222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872984" y="3249560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7662671" y="3244190"/>
            <a:ext cx="246889" cy="41946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119872" y="3290265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7909560" y="3286136"/>
            <a:ext cx="246888" cy="40705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8366760" y="3329768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8156448" y="3326841"/>
            <a:ext cx="246888" cy="39503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8613648" y="3368103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8403336" y="3366344"/>
            <a:ext cx="246888" cy="38335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8860536" y="3405305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4" name="Connector 93"/>
          <p:cNvCxnSpPr/>
          <p:nvPr/>
        </p:nvCxnSpPr>
        <p:spPr>
          <a:xfrm>
            <a:off x="8650224" y="3404679"/>
            <a:ext cx="246888" cy="37202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9107424" y="3441407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8897112" y="3441881"/>
            <a:ext cx="246888" cy="36102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9354312" y="3476443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9144000" y="3477983"/>
            <a:ext cx="246888" cy="35036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9601200" y="3510443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0" name="Connector 99"/>
          <p:cNvCxnSpPr/>
          <p:nvPr/>
        </p:nvCxnSpPr>
        <p:spPr>
          <a:xfrm>
            <a:off x="9390888" y="3513019"/>
            <a:ext cx="246888" cy="3400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9848088" y="3543438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9637776" y="3547019"/>
            <a:ext cx="246888" cy="32995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10094976" y="3575458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9884664" y="3580014"/>
            <a:ext cx="246888" cy="3202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0341864" y="3606532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10131552" y="3612034"/>
            <a:ext cx="246888" cy="31074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10588752" y="3636687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10378440" y="3643108"/>
            <a:ext cx="246888" cy="30155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835640" y="3665951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10625328" y="3673263"/>
            <a:ext cx="246888" cy="29264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11082528" y="3694351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2" name="Connector 111"/>
          <p:cNvCxnSpPr/>
          <p:nvPr/>
        </p:nvCxnSpPr>
        <p:spPr>
          <a:xfrm>
            <a:off x="10872216" y="3702527"/>
            <a:ext cx="246888" cy="2840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11329416" y="3721911"/>
            <a:ext cx="73152" cy="7315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4" name="Connector 113"/>
          <p:cNvCxnSpPr/>
          <p:nvPr/>
        </p:nvCxnSpPr>
        <p:spPr>
          <a:xfrm>
            <a:off x="11119104" y="3730927"/>
            <a:ext cx="246888" cy="2756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675120" y="3063240"/>
            <a:ext cx="246888" cy="290068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922008" y="3353308"/>
            <a:ext cx="246888" cy="237486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168896" y="3590794"/>
            <a:ext cx="246887" cy="194438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415783" y="3785232"/>
            <a:ext cx="246888" cy="159192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662671" y="3944424"/>
            <a:ext cx="246889" cy="130336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909560" y="4074760"/>
            <a:ext cx="246888" cy="106710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156448" y="4181470"/>
            <a:ext cx="246888" cy="87366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403336" y="4268836"/>
            <a:ext cx="246888" cy="71530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50224" y="4340366"/>
            <a:ext cx="246888" cy="58563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897112" y="4398929"/>
            <a:ext cx="246888" cy="47948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144000" y="4446877"/>
            <a:ext cx="246888" cy="39256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390888" y="4486133"/>
            <a:ext cx="246888" cy="32141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637776" y="4518274"/>
            <a:ext cx="246888" cy="26314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884664" y="4544588"/>
            <a:ext cx="246888" cy="21544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131552" y="4566132"/>
            <a:ext cx="246888" cy="17639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378440" y="4583771"/>
            <a:ext cx="246888" cy="14442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625328" y="4598213"/>
            <a:ext cx="246888" cy="11824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872216" y="4610037"/>
            <a:ext cx="246888" cy="9680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119104" y="4619717"/>
            <a:ext cx="246888" cy="7926"/>
          </a:xfrm>
          <a:prstGeom prst="line">
            <a:avLst/>
          </a:prstGeom>
          <a:ln w="1016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6675120" y="4754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--- Green: ideal LR    --- Yellow: too-low LR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75120" y="5029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barely decreases even after many epochs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58368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6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PROBLEMS WITH LOW LR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66560" y="56692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  Training takes hours/days longer than needed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766560" y="5943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  May get stuck in local minima (not the best solution)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766560" y="6217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  Wastes expensive GPU compute time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766560" y="6492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  Model never reaches its full potential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 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Rate Just Right: The Sweet Spot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well-tuned LR converges smoothly and quickly to a good solution.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1463040"/>
            <a:ext cx="7315200" cy="5120640"/>
          </a:xfrm>
          <a:prstGeom prst="roundRect">
            <a:avLst>
              <a:gd name="adj" fmla="val 2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1508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OPTIMAL TRAINING: LR = 0.001 (with Adam optimizer)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011680"/>
            <a:ext cx="6858000" cy="4114800"/>
          </a:xfrm>
          <a:prstGeom prst="rect">
            <a:avLst/>
          </a:prstGeom>
          <a:solidFill>
            <a:srgbClr val="101F3D"/>
          </a:solidFill>
          <a:ln w="635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432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6035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Epochs &gt;&gt;&gt;</a:t>
            </a:r>
          </a:p>
        </p:txBody>
      </p:sp>
      <p:sp>
        <p:nvSpPr>
          <p:cNvPr id="45" name="Oval 44"/>
          <p:cNvSpPr/>
          <p:nvPr/>
        </p:nvSpPr>
        <p:spPr>
          <a:xfrm>
            <a:off x="699516" y="2912365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955548" y="3364251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731520" y="2944369"/>
            <a:ext cx="256032" cy="451886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211580" y="3741699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987552" y="3396255"/>
            <a:ext cx="256032" cy="377448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467612" y="4056969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1243584" y="3773703"/>
            <a:ext cx="256032" cy="315270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723644" y="4320306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1499616" y="4088973"/>
            <a:ext cx="256032" cy="263337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979676" y="4540263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1755648" y="4352310"/>
            <a:ext cx="256032" cy="219957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2235708" y="4723986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2011680" y="4572267"/>
            <a:ext cx="256032" cy="183723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491740" y="4877445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9" name="Connector 58"/>
          <p:cNvCxnSpPr/>
          <p:nvPr/>
        </p:nvCxnSpPr>
        <p:spPr>
          <a:xfrm>
            <a:off x="2267712" y="4755990"/>
            <a:ext cx="256032" cy="153459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2747772" y="5005624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2523744" y="4909449"/>
            <a:ext cx="256032" cy="128179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003804" y="5112689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2779776" y="5037628"/>
            <a:ext cx="256032" cy="107065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259836" y="5202117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3035808" y="5144693"/>
            <a:ext cx="256032" cy="89428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515868" y="5276813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7" name="Connector 66"/>
          <p:cNvCxnSpPr/>
          <p:nvPr/>
        </p:nvCxnSpPr>
        <p:spPr>
          <a:xfrm>
            <a:off x="3291840" y="5234121"/>
            <a:ext cx="256032" cy="74696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771900" y="5339205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3547872" y="5308817"/>
            <a:ext cx="256032" cy="62392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027932" y="5391319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3803904" y="5371209"/>
            <a:ext cx="256032" cy="52114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4283964" y="5434848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4059936" y="5423323"/>
            <a:ext cx="256032" cy="43529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4539996" y="5471206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4315968" y="5466852"/>
            <a:ext cx="256032" cy="36358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4796028" y="5501576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7" name="Connector 76"/>
          <p:cNvCxnSpPr/>
          <p:nvPr/>
        </p:nvCxnSpPr>
        <p:spPr>
          <a:xfrm>
            <a:off x="4572000" y="5503210"/>
            <a:ext cx="256032" cy="30370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5052060" y="5526942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9" name="Connector 78"/>
          <p:cNvCxnSpPr/>
          <p:nvPr/>
        </p:nvCxnSpPr>
        <p:spPr>
          <a:xfrm>
            <a:off x="4828032" y="5533580"/>
            <a:ext cx="256032" cy="25366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308092" y="5548130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084064" y="5558946"/>
            <a:ext cx="256032" cy="21188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5564124" y="5565828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3" name="Connector 82"/>
          <p:cNvCxnSpPr/>
          <p:nvPr/>
        </p:nvCxnSpPr>
        <p:spPr>
          <a:xfrm>
            <a:off x="5340096" y="5580134"/>
            <a:ext cx="256032" cy="17698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820156" y="5580610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5" name="Connector 84"/>
          <p:cNvCxnSpPr/>
          <p:nvPr/>
        </p:nvCxnSpPr>
        <p:spPr>
          <a:xfrm>
            <a:off x="5596128" y="5597832"/>
            <a:ext cx="256032" cy="14782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6076188" y="5592957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7" name="Connector 86"/>
          <p:cNvCxnSpPr/>
          <p:nvPr/>
        </p:nvCxnSpPr>
        <p:spPr>
          <a:xfrm>
            <a:off x="5852160" y="5612614"/>
            <a:ext cx="256032" cy="12347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6332220" y="5603271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6108192" y="5624961"/>
            <a:ext cx="256032" cy="10314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588252" y="5611885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6364224" y="5635275"/>
            <a:ext cx="256032" cy="8614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6844284" y="5619080"/>
            <a:ext cx="64008" cy="64008"/>
          </a:xfrm>
          <a:prstGeom prst="ellipse">
            <a:avLst/>
          </a:prstGeom>
          <a:solidFill>
            <a:srgbClr val="00FFA0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3" name="Connector 92"/>
          <p:cNvCxnSpPr/>
          <p:nvPr/>
        </p:nvCxnSpPr>
        <p:spPr>
          <a:xfrm>
            <a:off x="6620256" y="5643889"/>
            <a:ext cx="256032" cy="7195"/>
          </a:xfrm>
          <a:prstGeom prst="line">
            <a:avLst/>
          </a:prstGeom>
          <a:ln w="19050">
            <a:solidFill>
              <a:srgbClr val="00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699516" y="2583180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955548" y="2969552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731520" y="2615184"/>
            <a:ext cx="256032" cy="386372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1211580" y="3304880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987552" y="3001556"/>
            <a:ext cx="256032" cy="335328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1467612" y="3602037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0" name="Connector 99"/>
          <p:cNvCxnSpPr/>
          <p:nvPr/>
        </p:nvCxnSpPr>
        <p:spPr>
          <a:xfrm>
            <a:off x="1243584" y="3336884"/>
            <a:ext cx="256032" cy="297157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1723644" y="3870009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1499616" y="3634041"/>
            <a:ext cx="256032" cy="267972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1979676" y="4113542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1755648" y="3902013"/>
            <a:ext cx="256032" cy="243533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2235708" y="4333568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2011680" y="4145546"/>
            <a:ext cx="256032" cy="220026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2491740" y="4528337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2267712" y="4365572"/>
            <a:ext cx="256032" cy="194769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2747772" y="4695023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2523744" y="4560341"/>
            <a:ext cx="256032" cy="166686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3003804" y="4831428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2" name="Connector 111"/>
          <p:cNvCxnSpPr/>
          <p:nvPr/>
        </p:nvCxnSpPr>
        <p:spPr>
          <a:xfrm>
            <a:off x="2779776" y="4727027"/>
            <a:ext cx="256032" cy="136405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3259836" y="4937389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4" name="Connector 113"/>
          <p:cNvCxnSpPr/>
          <p:nvPr/>
        </p:nvCxnSpPr>
        <p:spPr>
          <a:xfrm>
            <a:off x="3035808" y="4863432"/>
            <a:ext cx="256032" cy="105961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3515868" y="5015567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3291840" y="4969393"/>
            <a:ext cx="256032" cy="78178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3771900" y="5071443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8" name="Connector 117"/>
          <p:cNvCxnSpPr/>
          <p:nvPr/>
        </p:nvCxnSpPr>
        <p:spPr>
          <a:xfrm>
            <a:off x="3547872" y="5047571"/>
            <a:ext cx="256032" cy="55876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4027932" y="5112525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3803904" y="5103447"/>
            <a:ext cx="256032" cy="41082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4283964" y="5146995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2" name="Connector 121"/>
          <p:cNvCxnSpPr/>
          <p:nvPr/>
        </p:nvCxnSpPr>
        <p:spPr>
          <a:xfrm>
            <a:off x="4059936" y="5144529"/>
            <a:ext cx="256032" cy="34470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4539996" y="5182112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4" name="Connector 123"/>
          <p:cNvCxnSpPr/>
          <p:nvPr/>
        </p:nvCxnSpPr>
        <p:spPr>
          <a:xfrm>
            <a:off x="4315968" y="5178999"/>
            <a:ext cx="256032" cy="35117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4796028" y="5222790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6" name="Connector 125"/>
          <p:cNvCxnSpPr/>
          <p:nvPr/>
        </p:nvCxnSpPr>
        <p:spPr>
          <a:xfrm>
            <a:off x="4572000" y="5214116"/>
            <a:ext cx="256032" cy="40678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5052060" y="5270699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8" name="Connector 127"/>
          <p:cNvCxnSpPr/>
          <p:nvPr/>
        </p:nvCxnSpPr>
        <p:spPr>
          <a:xfrm>
            <a:off x="4828032" y="5254794"/>
            <a:ext cx="256032" cy="47909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5308092" y="5324119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0" name="Connector 129"/>
          <p:cNvCxnSpPr/>
          <p:nvPr/>
        </p:nvCxnSpPr>
        <p:spPr>
          <a:xfrm>
            <a:off x="5084064" y="5302703"/>
            <a:ext cx="256032" cy="53420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5564124" y="5378587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2" name="Connector 131"/>
          <p:cNvCxnSpPr/>
          <p:nvPr/>
        </p:nvCxnSpPr>
        <p:spPr>
          <a:xfrm>
            <a:off x="5340096" y="5356123"/>
            <a:ext cx="256032" cy="54468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5820156" y="5428182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4" name="Connector 133"/>
          <p:cNvCxnSpPr/>
          <p:nvPr/>
        </p:nvCxnSpPr>
        <p:spPr>
          <a:xfrm>
            <a:off x="5596128" y="5410591"/>
            <a:ext cx="256032" cy="49595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6076188" y="5467144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6" name="Connector 135"/>
          <p:cNvCxnSpPr/>
          <p:nvPr/>
        </p:nvCxnSpPr>
        <p:spPr>
          <a:xfrm>
            <a:off x="5852160" y="5460186"/>
            <a:ext cx="256032" cy="38962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6332220" y="5491428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8" name="Connector 137"/>
          <p:cNvCxnSpPr/>
          <p:nvPr/>
        </p:nvCxnSpPr>
        <p:spPr>
          <a:xfrm>
            <a:off x="6108192" y="5499148"/>
            <a:ext cx="256032" cy="24284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6588252" y="5499816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0" name="Connector 139"/>
          <p:cNvCxnSpPr/>
          <p:nvPr/>
        </p:nvCxnSpPr>
        <p:spPr>
          <a:xfrm>
            <a:off x="6364224" y="5523432"/>
            <a:ext cx="256032" cy="8388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6844284" y="5494324"/>
            <a:ext cx="64008" cy="64008"/>
          </a:xfrm>
          <a:prstGeom prst="ellipse">
            <a:avLst/>
          </a:prstGeom>
          <a:solidFill>
            <a:srgbClr val="00E0FF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2" name="Connector 141"/>
          <p:cNvCxnSpPr/>
          <p:nvPr/>
        </p:nvCxnSpPr>
        <p:spPr>
          <a:xfrm flipV="1">
            <a:off x="6620256" y="5526328"/>
            <a:ext cx="256032" cy="5492"/>
          </a:xfrm>
          <a:prstGeom prst="line">
            <a:avLst/>
          </a:prstGeom>
          <a:ln w="1270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029200" y="2103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--- Training loss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2920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--- Validation loss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7160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Rapid improvement
(steep descent)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0" y="4754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58709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Convergence
(flattening out)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77240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SIGNS OF GOOD LR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772400" y="1920240"/>
            <a:ext cx="4114800" cy="868680"/>
          </a:xfrm>
          <a:prstGeom prst="roundRect">
            <a:avLst>
              <a:gd name="adj" fmla="val 3000"/>
            </a:avLst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772400" y="1920240"/>
            <a:ext cx="109728" cy="86868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028432" y="202996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Smooth Decrease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028432" y="239572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goes down consistently
without wild oscillations.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772400" y="2926080"/>
            <a:ext cx="4114800" cy="868680"/>
          </a:xfrm>
          <a:prstGeom prst="roundRect">
            <a:avLst>
              <a:gd name="adj" fmla="val 3000"/>
            </a:avLst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7772400" y="2926080"/>
            <a:ext cx="109728" cy="86868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8028432" y="303580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FF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 Start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028432" y="340156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Rapid improvement in the
first few epochs.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772400" y="3931920"/>
            <a:ext cx="4114800" cy="868680"/>
          </a:xfrm>
          <a:prstGeom prst="roundRect">
            <a:avLst>
              <a:gd name="adj" fmla="val 3000"/>
            </a:avLst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7772400" y="3931920"/>
            <a:ext cx="109728" cy="8686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8028432" y="404164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85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Convergence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028432" y="440740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flattens out to a low
value and stays there.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772400" y="4937760"/>
            <a:ext cx="4114800" cy="868680"/>
          </a:xfrm>
          <a:prstGeom prst="roundRect">
            <a:avLst>
              <a:gd name="adj" fmla="val 3000"/>
            </a:avLst>
          </a:prstGeom>
          <a:solidFill>
            <a:srgbClr val="321406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7772400" y="4937760"/>
            <a:ext cx="109728" cy="86868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8028432" y="504748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722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 ~ Val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028432" y="541324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Training and validation loss
track each other closely.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772400" y="5943600"/>
            <a:ext cx="4114800" cy="868680"/>
          </a:xfrm>
          <a:prstGeom prst="roundRect">
            <a:avLst>
              <a:gd name="adj" fmla="val 3000"/>
            </a:avLst>
          </a:prstGeom>
          <a:solidFill>
            <a:srgbClr val="32081C"/>
          </a:solidFill>
          <a:ln w="190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7772400" y="5943600"/>
            <a:ext cx="109728" cy="868680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028432" y="605332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3D8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Good Accuracy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028432" y="641908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8F0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achieves high accuracy
on both train and test data.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The Loss Function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9784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87096"/>
                </a:solidFill>
              </a:rPr>
              <a:t>Loss = a single number measuring how wrong the prediction is. Goal: make it as small as possible.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71600"/>
            <a:ext cx="3520440" cy="361188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STEP 1
PREDICT</a:t>
            </a:r>
          </a:p>
        </p:txBody>
      </p:sp>
      <p:sp>
        <p:nvSpPr>
          <p:cNvPr id="43" name="Oval 42"/>
          <p:cNvSpPr/>
          <p:nvPr/>
        </p:nvSpPr>
        <p:spPr>
          <a:xfrm>
            <a:off x="1531620" y="1920240"/>
            <a:ext cx="1097280" cy="1097280"/>
          </a:xfrm>
          <a:prstGeom prst="ellipse">
            <a:avLst/>
          </a:prstGeom>
          <a:solidFill>
            <a:srgbClr val="002838"/>
          </a:solidFill>
          <a:ln w="317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31620" y="196596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0FF"/>
                </a:solidFill>
              </a:rPr>
              <a:t>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3218688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Network produces
probability vector:
y = [0.1, 0.7, 0.2]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8768" y="23774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0FF"/>
                </a:solidFill>
              </a:rPr>
              <a:t>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78224" y="1371600"/>
            <a:ext cx="3520440" cy="361188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STEP 2
COMPARE</a:t>
            </a:r>
          </a:p>
        </p:txBody>
      </p:sp>
      <p:sp>
        <p:nvSpPr>
          <p:cNvPr id="50" name="Oval 49"/>
          <p:cNvSpPr/>
          <p:nvPr/>
        </p:nvSpPr>
        <p:spPr>
          <a:xfrm>
            <a:off x="5289804" y="1920240"/>
            <a:ext cx="1097280" cy="1097280"/>
          </a:xfrm>
          <a:prstGeom prst="ellipse">
            <a:avLst/>
          </a:prstGeom>
          <a:solidFill>
            <a:srgbClr val="321406"/>
          </a:solidFill>
          <a:ln w="317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289804" y="196596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722D"/>
                </a:solidFill>
              </a:rPr>
              <a:t>vs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42816" y="3218688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Ground truth label:
y_true = [0, 1, 0]
One-hot encoded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16952" y="23774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722D"/>
                </a:solidFill>
              </a:rPr>
              <a:t>&gt;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36408" y="1371600"/>
            <a:ext cx="3520440" cy="361188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STEP 3
MEASURE ERROR</a:t>
            </a:r>
          </a:p>
        </p:txBody>
      </p:sp>
      <p:sp>
        <p:nvSpPr>
          <p:cNvPr id="57" name="Oval 56"/>
          <p:cNvSpPr/>
          <p:nvPr/>
        </p:nvSpPr>
        <p:spPr>
          <a:xfrm>
            <a:off x="9047988" y="1920240"/>
            <a:ext cx="1097280" cy="1097280"/>
          </a:xfrm>
          <a:prstGeom prst="ellipse">
            <a:avLst/>
          </a:prstGeom>
          <a:solidFill>
            <a:srgbClr val="32081C"/>
          </a:solidFill>
          <a:ln w="3175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47988" y="196596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3D8E"/>
                </a:solidFill>
              </a:rPr>
              <a:t>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3218688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Cross-Entropy Loss:
L = -Sum y_true * log(y)
L = 0.357  (scalar)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" y="5230368"/>
            <a:ext cx="2834640" cy="1371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" y="5230368"/>
            <a:ext cx="91440" cy="1371600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52852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FF"/>
                </a:solidFill>
              </a:rPr>
              <a:t>MSE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5650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Regression
(y-y)^2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00984" y="5230368"/>
            <a:ext cx="2834640" cy="1371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300984" y="5230368"/>
            <a:ext cx="91440" cy="13716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483864" y="52852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0"/>
                </a:solidFill>
              </a:rPr>
              <a:t>Cross-Entropy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83864" y="5650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Classification
-Sum y*log(y)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81928" y="5230368"/>
            <a:ext cx="2834640" cy="1371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281928" y="5230368"/>
            <a:ext cx="91440" cy="13716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64808" y="52852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CFF"/>
                </a:solidFill>
              </a:rPr>
              <a:t>Binary 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64808" y="5650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2-class
Logistic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62872" y="5230368"/>
            <a:ext cx="2834640" cy="1371600"/>
          </a:xfrm>
          <a:prstGeom prst="roundRect">
            <a:avLst>
              <a:gd name="adj" fmla="val 3000"/>
            </a:avLst>
          </a:prstGeom>
          <a:solidFill>
            <a:srgbClr val="0B162C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262872" y="5230368"/>
            <a:ext cx="91440" cy="13716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445752" y="52852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22D"/>
                </a:solidFill>
              </a:rPr>
              <a:t>Huber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45752" y="5650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Robust
Regression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Backpropagation — The Chain 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550" y="98298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87096"/>
                </a:solidFill>
              </a:rPr>
              <a:t>Error flows BACKWARDS through the network — computing how much each weight contributed to the mistake.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" y="1371600"/>
            <a:ext cx="251460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6364" y="1371600"/>
            <a:ext cx="2514600" cy="438912"/>
          </a:xfrm>
          <a:prstGeom prst="rect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" y="137160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1</a:t>
            </a:r>
          </a:p>
        </p:txBody>
      </p:sp>
      <p:sp>
        <p:nvSpPr>
          <p:cNvPr id="43" name="Oval 42"/>
          <p:cNvSpPr/>
          <p:nvPr/>
        </p:nvSpPr>
        <p:spPr>
          <a:xfrm>
            <a:off x="1316736" y="2011680"/>
            <a:ext cx="1133856" cy="1133856"/>
          </a:xfrm>
          <a:prstGeom prst="ellipse">
            <a:avLst/>
          </a:prstGeom>
          <a:solidFill>
            <a:srgbClr val="32081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16736" y="208483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3D8E"/>
                </a:solidFill>
              </a:rPr>
              <a:t>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" y="32735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3D8E"/>
                </a:solidFill>
              </a:rPr>
              <a:t>COMPUTE
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" y="3913632"/>
            <a:ext cx="225856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Measure error at
the output layer
L = loss(y, y_true)</a:t>
            </a:r>
          </a:p>
        </p:txBody>
      </p:sp>
      <p:sp>
        <p:nvSpPr>
          <p:cNvPr id="47" name="Oval 46"/>
          <p:cNvSpPr/>
          <p:nvPr/>
        </p:nvSpPr>
        <p:spPr>
          <a:xfrm>
            <a:off x="1645920" y="570585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45920" y="57607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3D8E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9252" y="301752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3D8E"/>
                </a:solidFill>
              </a:rPr>
              <a:t>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33572" y="1371600"/>
            <a:ext cx="251460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433572" y="1371600"/>
            <a:ext cx="2514600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33572" y="137160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2</a:t>
            </a:r>
          </a:p>
        </p:txBody>
      </p:sp>
      <p:sp>
        <p:nvSpPr>
          <p:cNvPr id="53" name="Oval 52"/>
          <p:cNvSpPr/>
          <p:nvPr/>
        </p:nvSpPr>
        <p:spPr>
          <a:xfrm>
            <a:off x="4123944" y="2011680"/>
            <a:ext cx="1133856" cy="1133856"/>
          </a:xfrm>
          <a:prstGeom prst="ellipse">
            <a:avLst/>
          </a:prstGeom>
          <a:solidFill>
            <a:srgbClr val="321406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23944" y="208483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722D"/>
                </a:solidFill>
              </a:rPr>
              <a:t>dL
/dy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33572" y="32735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22D"/>
                </a:solidFill>
              </a:rPr>
              <a:t>OUTPUT
GRADIENT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1588" y="3913632"/>
            <a:ext cx="225856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How does loss
change if output
changes slightly?</a:t>
            </a:r>
          </a:p>
        </p:txBody>
      </p:sp>
      <p:sp>
        <p:nvSpPr>
          <p:cNvPr id="57" name="Oval 56"/>
          <p:cNvSpPr/>
          <p:nvPr/>
        </p:nvSpPr>
        <p:spPr>
          <a:xfrm>
            <a:off x="4453128" y="570585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53128" y="57607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22D"/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6460" y="301752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722D"/>
                </a:solidFill>
              </a:rPr>
              <a:t>&gt;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40780" y="1371600"/>
            <a:ext cx="251460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240780" y="1371600"/>
            <a:ext cx="2514600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40780" y="137160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3</a:t>
            </a:r>
          </a:p>
        </p:txBody>
      </p:sp>
      <p:sp>
        <p:nvSpPr>
          <p:cNvPr id="63" name="Oval 62"/>
          <p:cNvSpPr/>
          <p:nvPr/>
        </p:nvSpPr>
        <p:spPr>
          <a:xfrm>
            <a:off x="6931152" y="2011680"/>
            <a:ext cx="1133856" cy="1133856"/>
          </a:xfrm>
          <a:prstGeom prst="ellipse">
            <a:avLst/>
          </a:prstGeom>
          <a:solidFill>
            <a:srgbClr val="180A38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31152" y="208483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5CFF"/>
                </a:solidFill>
              </a:rPr>
              <a:t>dL
/dw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0780" y="32735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85CFF"/>
                </a:solidFill>
              </a:rPr>
              <a:t>CHAIN
RULE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8796" y="3913632"/>
            <a:ext cx="225856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Multiply partial
derivatives layer
by layer backwards</a:t>
            </a:r>
          </a:p>
        </p:txBody>
      </p:sp>
      <p:sp>
        <p:nvSpPr>
          <p:cNvPr id="67" name="Oval 66"/>
          <p:cNvSpPr/>
          <p:nvPr/>
        </p:nvSpPr>
        <p:spPr>
          <a:xfrm>
            <a:off x="7260336" y="570585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60336" y="57607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5CFF"/>
                </a:solidFill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3668" y="301752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5CFF"/>
                </a:solidFill>
              </a:rPr>
              <a:t>&gt;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47988" y="1371600"/>
            <a:ext cx="251460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047988" y="1371600"/>
            <a:ext cx="2514600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047988" y="137160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4</a:t>
            </a:r>
          </a:p>
        </p:txBody>
      </p:sp>
      <p:sp>
        <p:nvSpPr>
          <p:cNvPr id="73" name="Oval 72"/>
          <p:cNvSpPr/>
          <p:nvPr/>
        </p:nvSpPr>
        <p:spPr>
          <a:xfrm>
            <a:off x="9738360" y="2011680"/>
            <a:ext cx="1133856" cy="1133856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738360" y="2084832"/>
            <a:ext cx="1133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0FF"/>
                </a:solidFill>
              </a:rPr>
              <a:t>nabla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47988" y="32735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0FF"/>
                </a:solidFill>
              </a:rPr>
              <a:t>ALL
GRADIENTS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76004" y="3913632"/>
            <a:ext cx="225856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Every dL/dw_i
now known for
every weight</a:t>
            </a:r>
          </a:p>
        </p:txBody>
      </p:sp>
      <p:sp>
        <p:nvSpPr>
          <p:cNvPr id="77" name="Oval 76"/>
          <p:cNvSpPr/>
          <p:nvPr/>
        </p:nvSpPr>
        <p:spPr>
          <a:xfrm>
            <a:off x="10067544" y="570585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067544" y="57607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0FF"/>
                </a:solidFill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473952"/>
            <a:ext cx="11430000" cy="310896"/>
          </a:xfrm>
          <a:prstGeom prst="rect">
            <a:avLst/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65760" y="647395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CFF"/>
                </a:solidFill>
              </a:rPr>
              <a:t>Chain Rule:  dL/dw  =  dL/dy  *  dy/dz  *  dz/dw    (applied at every layer)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Gradient Descent — Walking Downhill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533" y="9704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587096"/>
                </a:solidFill>
              </a:rPr>
              <a:t>Optimisation</a:t>
            </a:r>
            <a:r>
              <a:rPr sz="1300" b="0" i="1" dirty="0">
                <a:solidFill>
                  <a:srgbClr val="587096"/>
                </a:solidFill>
              </a:rPr>
              <a:t> = repeatedly adjusting weights in the direction that reduces loss the most.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1371600"/>
            <a:ext cx="6035040" cy="50292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4400" y="1645920"/>
            <a:ext cx="25400" cy="448056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4400" y="6035040"/>
            <a:ext cx="5303520" cy="2540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8912" y="1645920"/>
            <a:ext cx="457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7096"/>
                </a:solidFill>
              </a:rPr>
              <a:t>Loss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6053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7096"/>
                </a:solidFill>
              </a:rPr>
              <a:t>Weight --&gt;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" y="1739261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25271" y="1940804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90422" y="2137245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155573" y="2328583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220724" y="2514819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285875" y="2695952"/>
            <a:ext cx="58635" cy="63500"/>
          </a:xfrm>
          <a:prstGeom prst="rect">
            <a:avLst/>
          </a:prstGeom>
          <a:solidFill>
            <a:srgbClr val="FF0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351026" y="2871984"/>
            <a:ext cx="58635" cy="63500"/>
          </a:xfrm>
          <a:prstGeom prst="rect">
            <a:avLst/>
          </a:prstGeom>
          <a:solidFill>
            <a:srgbClr val="FF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416177" y="3042912"/>
            <a:ext cx="58635" cy="63500"/>
          </a:xfrm>
          <a:prstGeom prst="rect">
            <a:avLst/>
          </a:prstGeom>
          <a:solidFill>
            <a:srgbClr val="FF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481328" y="3208739"/>
            <a:ext cx="58635" cy="63500"/>
          </a:xfrm>
          <a:prstGeom prst="rect">
            <a:avLst/>
          </a:prstGeom>
          <a:solidFill>
            <a:srgbClr val="FF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546479" y="3369463"/>
            <a:ext cx="58635" cy="63500"/>
          </a:xfrm>
          <a:prstGeom prst="rect">
            <a:avLst/>
          </a:prstGeom>
          <a:solidFill>
            <a:srgbClr val="FF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611630" y="3525085"/>
            <a:ext cx="58635" cy="63500"/>
          </a:xfrm>
          <a:prstGeom prst="rect">
            <a:avLst/>
          </a:prstGeom>
          <a:solidFill>
            <a:srgbClr val="FF4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676781" y="3675604"/>
            <a:ext cx="58635" cy="63500"/>
          </a:xfrm>
          <a:prstGeom prst="rect">
            <a:avLst/>
          </a:prstGeom>
          <a:solidFill>
            <a:srgbClr val="F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741932" y="3821021"/>
            <a:ext cx="58635" cy="63500"/>
          </a:xfrm>
          <a:prstGeom prst="rect">
            <a:avLst/>
          </a:prstGeom>
          <a:solidFill>
            <a:srgbClr val="FF5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807083" y="3961336"/>
            <a:ext cx="58635" cy="63500"/>
          </a:xfrm>
          <a:prstGeom prst="rect">
            <a:avLst/>
          </a:prstGeom>
          <a:solidFill>
            <a:srgbClr val="F7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872234" y="4096548"/>
            <a:ext cx="58635" cy="63500"/>
          </a:xfrm>
          <a:prstGeom prst="rect">
            <a:avLst/>
          </a:prstGeom>
          <a:solidFill>
            <a:srgbClr val="E67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937385" y="4226658"/>
            <a:ext cx="58635" cy="63500"/>
          </a:xfrm>
          <a:prstGeom prst="rect">
            <a:avLst/>
          </a:prstGeom>
          <a:solidFill>
            <a:srgbClr val="D67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002536" y="4351666"/>
            <a:ext cx="58635" cy="63500"/>
          </a:xfrm>
          <a:prstGeom prst="rect">
            <a:avLst/>
          </a:prstGeom>
          <a:solidFill>
            <a:srgbClr val="C68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067687" y="4471571"/>
            <a:ext cx="58635" cy="63500"/>
          </a:xfrm>
          <a:prstGeom prst="rect">
            <a:avLst/>
          </a:prstGeom>
          <a:solidFill>
            <a:srgbClr val="B78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132838" y="4586374"/>
            <a:ext cx="58635" cy="63500"/>
          </a:xfrm>
          <a:prstGeom prst="rect">
            <a:avLst/>
          </a:prstGeom>
          <a:solidFill>
            <a:srgbClr val="A9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197989" y="4696074"/>
            <a:ext cx="58635" cy="63500"/>
          </a:xfrm>
          <a:prstGeom prst="rect">
            <a:avLst/>
          </a:prstGeom>
          <a:solidFill>
            <a:srgbClr val="9B9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263140" y="4800673"/>
            <a:ext cx="58635" cy="63500"/>
          </a:xfrm>
          <a:prstGeom prst="rect">
            <a:avLst/>
          </a:prstGeom>
          <a:solidFill>
            <a:srgbClr val="8E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328291" y="4900169"/>
            <a:ext cx="58635" cy="63500"/>
          </a:xfrm>
          <a:prstGeom prst="rect">
            <a:avLst/>
          </a:prstGeom>
          <a:solidFill>
            <a:srgbClr val="82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393442" y="4994562"/>
            <a:ext cx="58635" cy="63500"/>
          </a:xfrm>
          <a:prstGeom prst="rect">
            <a:avLst/>
          </a:prstGeom>
          <a:solidFill>
            <a:srgbClr val="7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458593" y="5083853"/>
            <a:ext cx="58635" cy="63500"/>
          </a:xfrm>
          <a:prstGeom prst="rect">
            <a:avLst/>
          </a:prstGeom>
          <a:solidFill>
            <a:srgbClr val="6BB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523744" y="5168042"/>
            <a:ext cx="58635" cy="63500"/>
          </a:xfrm>
          <a:prstGeom prst="rect">
            <a:avLst/>
          </a:prstGeom>
          <a:solidFill>
            <a:srgbClr val="60C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588895" y="5247128"/>
            <a:ext cx="58635" cy="63500"/>
          </a:xfrm>
          <a:prstGeom prst="rect">
            <a:avLst/>
          </a:prstGeom>
          <a:solidFill>
            <a:srgbClr val="57C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654046" y="5321113"/>
            <a:ext cx="58635" cy="63500"/>
          </a:xfrm>
          <a:prstGeom prst="rect">
            <a:avLst/>
          </a:prstGeom>
          <a:solidFill>
            <a:srgbClr val="4DC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719197" y="5389994"/>
            <a:ext cx="58635" cy="63500"/>
          </a:xfrm>
          <a:prstGeom prst="rect">
            <a:avLst/>
          </a:prstGeom>
          <a:solidFill>
            <a:srgbClr val="45D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784348" y="5453774"/>
            <a:ext cx="58635" cy="63500"/>
          </a:xfrm>
          <a:prstGeom prst="rect">
            <a:avLst/>
          </a:prstGeom>
          <a:solidFill>
            <a:srgbClr val="3DD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849499" y="5512451"/>
            <a:ext cx="58635" cy="63500"/>
          </a:xfrm>
          <a:prstGeom prst="rect">
            <a:avLst/>
          </a:prstGeom>
          <a:solidFill>
            <a:srgbClr val="35D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914650" y="5566025"/>
            <a:ext cx="58635" cy="63500"/>
          </a:xfrm>
          <a:prstGeom prst="rect">
            <a:avLst/>
          </a:prstGeom>
          <a:solidFill>
            <a:srgbClr val="2FD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979801" y="5614498"/>
            <a:ext cx="58635" cy="63500"/>
          </a:xfrm>
          <a:prstGeom prst="rect">
            <a:avLst/>
          </a:prstGeom>
          <a:solidFill>
            <a:srgbClr val="29E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044952" y="5657868"/>
            <a:ext cx="58635" cy="63500"/>
          </a:xfrm>
          <a:prstGeom prst="rect">
            <a:avLst/>
          </a:prstGeom>
          <a:solidFill>
            <a:srgbClr val="23E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110103" y="5696135"/>
            <a:ext cx="58635" cy="63500"/>
          </a:xfrm>
          <a:prstGeom prst="rect">
            <a:avLst/>
          </a:prstGeom>
          <a:solidFill>
            <a:srgbClr val="1EE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175254" y="5729301"/>
            <a:ext cx="58635" cy="63500"/>
          </a:xfrm>
          <a:prstGeom prst="rect">
            <a:avLst/>
          </a:prstGeom>
          <a:solidFill>
            <a:srgbClr val="1AE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240405" y="5757364"/>
            <a:ext cx="58635" cy="63500"/>
          </a:xfrm>
          <a:prstGeom prst="rect">
            <a:avLst/>
          </a:prstGeom>
          <a:solidFill>
            <a:srgbClr val="17E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305556" y="5780324"/>
            <a:ext cx="58635" cy="63500"/>
          </a:xfrm>
          <a:prstGeom prst="rect">
            <a:avLst/>
          </a:prstGeom>
          <a:solidFill>
            <a:srgbClr val="14E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370707" y="5798182"/>
            <a:ext cx="58635" cy="63500"/>
          </a:xfrm>
          <a:prstGeom prst="rect">
            <a:avLst/>
          </a:prstGeom>
          <a:solidFill>
            <a:srgbClr val="12E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435858" y="5810938"/>
            <a:ext cx="58635" cy="63500"/>
          </a:xfrm>
          <a:prstGeom prst="rect">
            <a:avLst/>
          </a:prstGeom>
          <a:solidFill>
            <a:srgbClr val="10F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501009" y="5818592"/>
            <a:ext cx="58635" cy="63500"/>
          </a:xfrm>
          <a:prstGeom prst="rect">
            <a:avLst/>
          </a:prstGeom>
          <a:solidFill>
            <a:srgbClr val="0FF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566160" y="5821143"/>
            <a:ext cx="58635" cy="63500"/>
          </a:xfrm>
          <a:prstGeom prst="rect">
            <a:avLst/>
          </a:prstGeom>
          <a:solidFill>
            <a:srgbClr val="0FF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631311" y="5818592"/>
            <a:ext cx="58635" cy="63500"/>
          </a:xfrm>
          <a:prstGeom prst="rect">
            <a:avLst/>
          </a:prstGeom>
          <a:solidFill>
            <a:srgbClr val="0FF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96462" y="5810938"/>
            <a:ext cx="58635" cy="63500"/>
          </a:xfrm>
          <a:prstGeom prst="rect">
            <a:avLst/>
          </a:prstGeom>
          <a:solidFill>
            <a:srgbClr val="10F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761613" y="5798182"/>
            <a:ext cx="58635" cy="63500"/>
          </a:xfrm>
          <a:prstGeom prst="rect">
            <a:avLst/>
          </a:prstGeom>
          <a:solidFill>
            <a:srgbClr val="12E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826764" y="5780324"/>
            <a:ext cx="58635" cy="63500"/>
          </a:xfrm>
          <a:prstGeom prst="rect">
            <a:avLst/>
          </a:prstGeom>
          <a:solidFill>
            <a:srgbClr val="14E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891915" y="5757364"/>
            <a:ext cx="58635" cy="63500"/>
          </a:xfrm>
          <a:prstGeom prst="rect">
            <a:avLst/>
          </a:prstGeom>
          <a:solidFill>
            <a:srgbClr val="17E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3957066" y="5729301"/>
            <a:ext cx="58635" cy="63500"/>
          </a:xfrm>
          <a:prstGeom prst="rect">
            <a:avLst/>
          </a:prstGeom>
          <a:solidFill>
            <a:srgbClr val="1AE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022217" y="5696135"/>
            <a:ext cx="58635" cy="63500"/>
          </a:xfrm>
          <a:prstGeom prst="rect">
            <a:avLst/>
          </a:prstGeom>
          <a:solidFill>
            <a:srgbClr val="1EE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087368" y="5657868"/>
            <a:ext cx="58635" cy="63500"/>
          </a:xfrm>
          <a:prstGeom prst="rect">
            <a:avLst/>
          </a:prstGeom>
          <a:solidFill>
            <a:srgbClr val="23E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152519" y="5614498"/>
            <a:ext cx="58635" cy="63500"/>
          </a:xfrm>
          <a:prstGeom prst="rect">
            <a:avLst/>
          </a:prstGeom>
          <a:solidFill>
            <a:srgbClr val="29E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217670" y="5566025"/>
            <a:ext cx="58635" cy="63500"/>
          </a:xfrm>
          <a:prstGeom prst="rect">
            <a:avLst/>
          </a:prstGeom>
          <a:solidFill>
            <a:srgbClr val="2FD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282821" y="5512451"/>
            <a:ext cx="58635" cy="63500"/>
          </a:xfrm>
          <a:prstGeom prst="rect">
            <a:avLst/>
          </a:prstGeom>
          <a:solidFill>
            <a:srgbClr val="35D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347972" y="5453774"/>
            <a:ext cx="58635" cy="63500"/>
          </a:xfrm>
          <a:prstGeom prst="rect">
            <a:avLst/>
          </a:prstGeom>
          <a:solidFill>
            <a:srgbClr val="3DD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413123" y="5389994"/>
            <a:ext cx="58635" cy="63500"/>
          </a:xfrm>
          <a:prstGeom prst="rect">
            <a:avLst/>
          </a:prstGeom>
          <a:solidFill>
            <a:srgbClr val="45D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478274" y="5321113"/>
            <a:ext cx="58635" cy="63500"/>
          </a:xfrm>
          <a:prstGeom prst="rect">
            <a:avLst/>
          </a:prstGeom>
          <a:solidFill>
            <a:srgbClr val="4DC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543425" y="5247128"/>
            <a:ext cx="58635" cy="63500"/>
          </a:xfrm>
          <a:prstGeom prst="rect">
            <a:avLst/>
          </a:prstGeom>
          <a:solidFill>
            <a:srgbClr val="57C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608576" y="5168042"/>
            <a:ext cx="58635" cy="63500"/>
          </a:xfrm>
          <a:prstGeom prst="rect">
            <a:avLst/>
          </a:prstGeom>
          <a:solidFill>
            <a:srgbClr val="60C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673727" y="5083853"/>
            <a:ext cx="58635" cy="63500"/>
          </a:xfrm>
          <a:prstGeom prst="rect">
            <a:avLst/>
          </a:prstGeom>
          <a:solidFill>
            <a:srgbClr val="6BB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738878" y="4994562"/>
            <a:ext cx="58635" cy="63500"/>
          </a:xfrm>
          <a:prstGeom prst="rect">
            <a:avLst/>
          </a:prstGeom>
          <a:solidFill>
            <a:srgbClr val="7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804029" y="4900169"/>
            <a:ext cx="58635" cy="63500"/>
          </a:xfrm>
          <a:prstGeom prst="rect">
            <a:avLst/>
          </a:prstGeom>
          <a:solidFill>
            <a:srgbClr val="82A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869180" y="4800673"/>
            <a:ext cx="58635" cy="63500"/>
          </a:xfrm>
          <a:prstGeom prst="rect">
            <a:avLst/>
          </a:prstGeom>
          <a:solidFill>
            <a:srgbClr val="8E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4934331" y="4696074"/>
            <a:ext cx="58635" cy="63500"/>
          </a:xfrm>
          <a:prstGeom prst="rect">
            <a:avLst/>
          </a:prstGeom>
          <a:solidFill>
            <a:srgbClr val="9B9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999482" y="4586374"/>
            <a:ext cx="58635" cy="63500"/>
          </a:xfrm>
          <a:prstGeom prst="rect">
            <a:avLst/>
          </a:prstGeom>
          <a:solidFill>
            <a:srgbClr val="A9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5064633" y="4471571"/>
            <a:ext cx="58635" cy="63500"/>
          </a:xfrm>
          <a:prstGeom prst="rect">
            <a:avLst/>
          </a:prstGeom>
          <a:solidFill>
            <a:srgbClr val="B78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5129784" y="4351666"/>
            <a:ext cx="58635" cy="63500"/>
          </a:xfrm>
          <a:prstGeom prst="rect">
            <a:avLst/>
          </a:prstGeom>
          <a:solidFill>
            <a:srgbClr val="C68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5194935" y="4226658"/>
            <a:ext cx="58635" cy="63500"/>
          </a:xfrm>
          <a:prstGeom prst="rect">
            <a:avLst/>
          </a:prstGeom>
          <a:solidFill>
            <a:srgbClr val="D67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5260086" y="4096548"/>
            <a:ext cx="58635" cy="63500"/>
          </a:xfrm>
          <a:prstGeom prst="rect">
            <a:avLst/>
          </a:prstGeom>
          <a:solidFill>
            <a:srgbClr val="E67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5325237" y="3961336"/>
            <a:ext cx="58635" cy="63500"/>
          </a:xfrm>
          <a:prstGeom prst="rect">
            <a:avLst/>
          </a:prstGeom>
          <a:solidFill>
            <a:srgbClr val="F7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5390388" y="3821021"/>
            <a:ext cx="58635" cy="63500"/>
          </a:xfrm>
          <a:prstGeom prst="rect">
            <a:avLst/>
          </a:prstGeom>
          <a:solidFill>
            <a:srgbClr val="FF5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455539" y="3675604"/>
            <a:ext cx="58635" cy="63500"/>
          </a:xfrm>
          <a:prstGeom prst="rect">
            <a:avLst/>
          </a:prstGeom>
          <a:solidFill>
            <a:srgbClr val="F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5520690" y="3525085"/>
            <a:ext cx="58635" cy="63500"/>
          </a:xfrm>
          <a:prstGeom prst="rect">
            <a:avLst/>
          </a:prstGeom>
          <a:solidFill>
            <a:srgbClr val="FF4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5585841" y="3369463"/>
            <a:ext cx="58635" cy="63500"/>
          </a:xfrm>
          <a:prstGeom prst="rect">
            <a:avLst/>
          </a:prstGeom>
          <a:solidFill>
            <a:srgbClr val="FF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5650992" y="3208739"/>
            <a:ext cx="58635" cy="63500"/>
          </a:xfrm>
          <a:prstGeom prst="rect">
            <a:avLst/>
          </a:prstGeom>
          <a:solidFill>
            <a:srgbClr val="FF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5716143" y="3042912"/>
            <a:ext cx="58635" cy="63500"/>
          </a:xfrm>
          <a:prstGeom prst="rect">
            <a:avLst/>
          </a:prstGeom>
          <a:solidFill>
            <a:srgbClr val="FF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781294" y="2871984"/>
            <a:ext cx="58635" cy="63500"/>
          </a:xfrm>
          <a:prstGeom prst="rect">
            <a:avLst/>
          </a:prstGeom>
          <a:solidFill>
            <a:srgbClr val="FF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846445" y="2695952"/>
            <a:ext cx="58635" cy="63500"/>
          </a:xfrm>
          <a:prstGeom prst="rect">
            <a:avLst/>
          </a:prstGeom>
          <a:solidFill>
            <a:srgbClr val="FF0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5911596" y="2514819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5976747" y="2328583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041898" y="2137245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107049" y="1940804"/>
            <a:ext cx="58635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267358" y="2666647"/>
            <a:ext cx="219456" cy="219456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6" name="Connector 1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1684324" y="3659361"/>
            <a:ext cx="219456" cy="219456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8" name="Connector 1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2153412" y="4526353"/>
            <a:ext cx="219456" cy="219456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0" name="Connector 12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2622499" y="5128838"/>
            <a:ext cx="219456" cy="219456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2" name="Connector 13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3039465" y="5442327"/>
            <a:ext cx="219456" cy="219456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4" name="Connector 13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3300069" y="5532128"/>
            <a:ext cx="219456" cy="219456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6" name="Connector 13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3401568" y="5491959"/>
            <a:ext cx="329184" cy="329184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05840" y="17190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22D"/>
                </a:solidFill>
              </a:rPr>
              <a:t>START (random)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900476" y="5486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GOAL (min loss)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583680" y="1371600"/>
            <a:ext cx="1828800" cy="50292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583680" y="1371600"/>
            <a:ext cx="1828800" cy="420624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583680" y="137160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583680" y="18470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0FF"/>
                </a:solidFill>
              </a:rPr>
              <a:t>COMPUTE
GRADIENT</a:t>
            </a:r>
          </a:p>
        </p:txBody>
      </p:sp>
      <p:sp>
        <p:nvSpPr>
          <p:cNvPr id="144" name="Oval 143"/>
          <p:cNvSpPr/>
          <p:nvPr/>
        </p:nvSpPr>
        <p:spPr>
          <a:xfrm>
            <a:off x="7059168" y="2487168"/>
            <a:ext cx="877824" cy="877824"/>
          </a:xfrm>
          <a:prstGeom prst="ellipse">
            <a:avLst/>
          </a:prstGeom>
          <a:solidFill>
            <a:srgbClr val="002838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059168" y="2542032"/>
            <a:ext cx="8778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0FF"/>
                </a:solidFill>
              </a:rPr>
              <a:t>dL
/dw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675120" y="3547872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A"/>
                </a:solidFill>
              </a:rPr>
              <a:t>Calculate slope
Which direction
is downhill?</a:t>
            </a:r>
          </a:p>
        </p:txBody>
      </p:sp>
      <p:sp>
        <p:nvSpPr>
          <p:cNvPr id="147" name="Oval 146"/>
          <p:cNvSpPr/>
          <p:nvPr/>
        </p:nvSpPr>
        <p:spPr>
          <a:xfrm>
            <a:off x="7260336" y="451713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7260336" y="45720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0FF"/>
                </a:solidFill>
              </a:rPr>
              <a:t>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430768" y="274320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0FF"/>
                </a:solidFill>
              </a:rPr>
              <a:t>&gt;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577072" y="1371600"/>
            <a:ext cx="1828800" cy="50292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8577072" y="1371600"/>
            <a:ext cx="1828800" cy="420624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577072" y="137160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77072" y="18470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A0"/>
                </a:solidFill>
              </a:rPr>
              <a:t>TAKE
A STEP</a:t>
            </a:r>
          </a:p>
        </p:txBody>
      </p:sp>
      <p:sp>
        <p:nvSpPr>
          <p:cNvPr id="154" name="Oval 153"/>
          <p:cNvSpPr/>
          <p:nvPr/>
        </p:nvSpPr>
        <p:spPr>
          <a:xfrm>
            <a:off x="9052560" y="2487168"/>
            <a:ext cx="877824" cy="877824"/>
          </a:xfrm>
          <a:prstGeom prst="ellipse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9052560" y="2542032"/>
            <a:ext cx="8778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A0"/>
                </a:solidFill>
              </a:rPr>
              <a:t>w-
lr*g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668512" y="3547872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A"/>
                </a:solidFill>
              </a:rPr>
              <a:t>Update weight:
w &lt;- w - lr * dL/dw</a:t>
            </a:r>
          </a:p>
        </p:txBody>
      </p:sp>
      <p:sp>
        <p:nvSpPr>
          <p:cNvPr id="157" name="Oval 156"/>
          <p:cNvSpPr/>
          <p:nvPr/>
        </p:nvSpPr>
        <p:spPr>
          <a:xfrm>
            <a:off x="9253728" y="451713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9253728" y="45720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A0"/>
                </a:solidFill>
              </a:rPr>
              <a:t>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424160" y="274320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A0"/>
                </a:solidFill>
              </a:rPr>
              <a:t>&gt;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570464" y="1371600"/>
            <a:ext cx="1828800" cy="502920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0570464" y="1371600"/>
            <a:ext cx="1828800" cy="420624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570464" y="137160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STEP 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70464" y="18470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22D"/>
                </a:solidFill>
              </a:rPr>
              <a:t>REPEAT
TO MIN</a:t>
            </a:r>
          </a:p>
        </p:txBody>
      </p:sp>
      <p:sp>
        <p:nvSpPr>
          <p:cNvPr id="164" name="Oval 163"/>
          <p:cNvSpPr/>
          <p:nvPr/>
        </p:nvSpPr>
        <p:spPr>
          <a:xfrm>
            <a:off x="11045952" y="2487168"/>
            <a:ext cx="877824" cy="877824"/>
          </a:xfrm>
          <a:prstGeom prst="ellipse">
            <a:avLst/>
          </a:prstGeom>
          <a:solidFill>
            <a:srgbClr val="321406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1045952" y="2542032"/>
            <a:ext cx="8778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22D"/>
                </a:solidFill>
              </a:rPr>
              <a:t>ok!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661904" y="3547872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A"/>
                </a:solidFill>
              </a:rPr>
              <a:t>Keep stepping until
gradient ~ 0
Convergence!</a:t>
            </a:r>
          </a:p>
        </p:txBody>
      </p:sp>
      <p:sp>
        <p:nvSpPr>
          <p:cNvPr id="167" name="Oval 166"/>
          <p:cNvSpPr/>
          <p:nvPr/>
        </p:nvSpPr>
        <p:spPr>
          <a:xfrm>
            <a:off x="11247120" y="451713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1247120" y="45720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22D"/>
                </a:solidFill>
              </a:rPr>
              <a:t>3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583680" y="5230368"/>
            <a:ext cx="5486400" cy="530352"/>
          </a:xfrm>
          <a:prstGeom prst="rect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583680" y="5230368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0FF"/>
                </a:solidFill>
              </a:rPr>
              <a:t>w  &lt;-  w  -  lr  *  dL/dw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Learning Rate — The Step Size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87096"/>
                </a:solidFill>
              </a:rPr>
              <a:t>Too small: painfully slow. Too big: overshoots. Just right: smooth convergence.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TOO SMALL
lr = 0.0001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1993392"/>
            <a:ext cx="3154680" cy="2011680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2920" y="1996610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6013" y="2148017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" y="229324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92200" y="2432292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55294" y="2565159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8" y="2691847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81481" y="281235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44575" y="2926682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07668" y="3034830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70762" y="3136798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133856" y="3232586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96949" y="3322195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260043" y="3405623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323136" y="3482872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386230" y="3553940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449324" y="3618829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512417" y="3677538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575511" y="3730067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638604" y="3776416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701698" y="3816585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764792" y="385057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827885" y="387838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890979" y="390001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954072" y="3915463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017166" y="3924733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080260" y="3927823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143353" y="3924733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206447" y="3915463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269540" y="390001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332634" y="387838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395728" y="385057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458821" y="3816585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521915" y="3776416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2585008" y="3730067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648102" y="3677538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711196" y="3618829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774289" y="3553940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837383" y="3482872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900476" y="3405623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963570" y="3322195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026664" y="3232586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089757" y="3136798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152851" y="3034830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215944" y="2926682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279038" y="281235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342132" y="2691847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405225" y="2565159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3468319" y="2432292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531412" y="2293244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594506" y="2148017"/>
            <a:ext cx="56784" cy="381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72998" y="2373135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799185" y="2620330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6" name="Connector 9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925372" y="2842806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8" name="Connector 9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1051560" y="3040562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" name="Connector 9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1177747" y="3213599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10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1303934" y="3361916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4" name="Connector 10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1485900" y="4133087"/>
            <a:ext cx="1188720" cy="38404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485900" y="4133087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A18"/>
                </a:solidFill>
              </a:rPr>
              <a:t>SLOW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4632" y="4663440"/>
            <a:ext cx="31912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Tiny steps
Training very slow
May not converge</a:t>
            </a:r>
          </a:p>
        </p:txBody>
      </p:sp>
      <p:sp>
        <p:nvSpPr>
          <p:cNvPr id="108" name="Oval 107"/>
          <p:cNvSpPr/>
          <p:nvPr/>
        </p:nvSpPr>
        <p:spPr>
          <a:xfrm>
            <a:off x="1842516" y="55686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842516" y="56235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5CFF"/>
                </a:solidFill>
              </a:rPr>
              <a:t>1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078224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JUST RIGHT
lr = 0.01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61104" y="1993392"/>
            <a:ext cx="3154680" cy="2011680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4261104" y="1996610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324197" y="2148017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387291" y="229324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450384" y="2432292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513478" y="2565159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4576572" y="2691847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4639665" y="281235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4702759" y="2926682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4765852" y="3034830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4828946" y="3136798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4892040" y="3232586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4955133" y="3322195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5018227" y="3405623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5081320" y="3482872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5144414" y="3553940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5207508" y="3618829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5270601" y="3677538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5333695" y="3730067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5396788" y="3776416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5459882" y="3816585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5522976" y="385057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5586069" y="387838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5649163" y="390001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5712256" y="3915463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775350" y="3924733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838444" y="3927823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901537" y="3924733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964631" y="3915463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6027724" y="390001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6090818" y="387838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6153912" y="385057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217005" y="3816585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280099" y="3776416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343192" y="3730067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06286" y="3677538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469380" y="3618829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532473" y="3553940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595567" y="3482872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658660" y="3405623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6721754" y="3322195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784848" y="3232586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6847941" y="3136798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6911035" y="3034830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6974128" y="2926682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037222" y="281235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100316" y="2691847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163409" y="2565159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7226503" y="2432292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289596" y="2293244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7352690" y="2148017"/>
            <a:ext cx="56784" cy="3810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4494276" y="2499823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4872837" y="3130171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6" name="Connector 16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5188305" y="3485514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8" name="Connector 16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Oval 168"/>
          <p:cNvSpPr/>
          <p:nvPr/>
        </p:nvSpPr>
        <p:spPr>
          <a:xfrm>
            <a:off x="5440680" y="3658550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0" name="Connector 16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Oval 170"/>
          <p:cNvSpPr/>
          <p:nvPr/>
        </p:nvSpPr>
        <p:spPr>
          <a:xfrm>
            <a:off x="5629960" y="3723439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2" name="Connector 17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5756148" y="3735799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" name="Connector 17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5244084" y="4133087"/>
            <a:ext cx="1188720" cy="38404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5244084" y="4133087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A18"/>
                </a:solidFill>
              </a:rPr>
              <a:t>CONVERGE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242816" y="4663440"/>
            <a:ext cx="31912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Balanced steps
Smooth convergence
Reaches minimum</a:t>
            </a:r>
          </a:p>
        </p:txBody>
      </p:sp>
      <p:sp>
        <p:nvSpPr>
          <p:cNvPr id="178" name="Oval 177"/>
          <p:cNvSpPr/>
          <p:nvPr/>
        </p:nvSpPr>
        <p:spPr>
          <a:xfrm>
            <a:off x="5600700" y="55686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5600700" y="56235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A0"/>
                </a:solidFill>
              </a:rPr>
              <a:t>2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7836408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TOO LARGE
lr = 10.0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019288" y="1993392"/>
            <a:ext cx="3154680" cy="2011680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8019288" y="1996610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8082381" y="2148017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145475" y="229324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8208568" y="2432292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8271662" y="2565159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8334756" y="2691847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8397849" y="281235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8460943" y="2926682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8524036" y="3034830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8587130" y="3136798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8650224" y="3232586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8713317" y="3322195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8776411" y="3405623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8839504" y="3482872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8902598" y="3553940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8965692" y="3618829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9028785" y="3677538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9091879" y="3730067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9154972" y="3776416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9218066" y="3816585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9281160" y="385057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9344253" y="387838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9407347" y="390001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9470440" y="3915463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9533534" y="3924733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9596628" y="3927823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9659721" y="3924733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9722815" y="3915463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9785908" y="390001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9849002" y="387838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9912096" y="385057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9975189" y="3816585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10038283" y="3776416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10101376" y="3730067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10164470" y="3677538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10227564" y="3618829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10290657" y="3553940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10353751" y="3482872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10416844" y="3405623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10479938" y="3322195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0543032" y="3232586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10606125" y="3136798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10669219" y="3034830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10732312" y="2926682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10795406" y="281235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10858500" y="2691847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10921593" y="2565159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10984687" y="2432292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11047780" y="2293244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11110874" y="2148017"/>
            <a:ext cx="56784" cy="38100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8252460" y="2499823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10618470" y="2789505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6" name="Connector 23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236"/>
          <p:cNvSpPr/>
          <p:nvPr/>
        </p:nvSpPr>
        <p:spPr>
          <a:xfrm>
            <a:off x="8410194" y="2789505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8" name="Connector 237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Oval 238"/>
          <p:cNvSpPr/>
          <p:nvPr/>
        </p:nvSpPr>
        <p:spPr>
          <a:xfrm>
            <a:off x="10460736" y="3040562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0" name="Connector 23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/>
          <p:nvPr/>
        </p:nvSpPr>
        <p:spPr>
          <a:xfrm>
            <a:off x="8567928" y="3040562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2" name="Connector 241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Oval 242"/>
          <p:cNvSpPr/>
          <p:nvPr/>
        </p:nvSpPr>
        <p:spPr>
          <a:xfrm>
            <a:off x="10303002" y="3252996"/>
            <a:ext cx="164592" cy="164592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4" name="Connector 24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Rectangle 244"/>
          <p:cNvSpPr/>
          <p:nvPr/>
        </p:nvSpPr>
        <p:spPr>
          <a:xfrm>
            <a:off x="9002268" y="4133087"/>
            <a:ext cx="1188720" cy="38404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002268" y="4133087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A18"/>
                </a:solidFill>
              </a:rPr>
              <a:t>DIVERGE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001000" y="4663440"/>
            <a:ext cx="31912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Huge wild steps
Overshoots minimum
Loss explodes</a:t>
            </a:r>
          </a:p>
        </p:txBody>
      </p:sp>
      <p:sp>
        <p:nvSpPr>
          <p:cNvPr id="248" name="Oval 247"/>
          <p:cNvSpPr/>
          <p:nvPr/>
        </p:nvSpPr>
        <p:spPr>
          <a:xfrm>
            <a:off x="9358884" y="55686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358884" y="56235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22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The Training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87096"/>
                </a:solidFill>
              </a:rPr>
              <a:t>Learning is a feedback loop: predict, measure error, compute gradients, update weights, repeat.</a:t>
            </a:r>
          </a:p>
        </p:txBody>
      </p:sp>
      <p:sp>
        <p:nvSpPr>
          <p:cNvPr id="40" name="Oval 39"/>
          <p:cNvSpPr/>
          <p:nvPr/>
        </p:nvSpPr>
        <p:spPr>
          <a:xfrm>
            <a:off x="8209976" y="4172663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178639" y="4383921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054797" y="4792175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963484" y="4985239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26465" y="5339964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583040" y="5498208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253255" y="5768856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070071" y="5878652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675922" y="6041914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468753" y="6093807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044184" y="6135624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830872" y="6125144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412445" y="6041914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211360" y="5969965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835112" y="5768856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663571" y="5641633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361902" y="5339964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234679" y="5168423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033570" y="4792175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3961621" y="4591090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878391" y="4172663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3867912" y="3959352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3909728" y="3534782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961621" y="3327613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4124883" y="2933464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234679" y="2750280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505327" y="2420495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663571" y="2277070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18296" y="2040051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211360" y="1948738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619614" y="1824896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830872" y="1793559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257495" y="1793559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6468753" y="1824896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877007" y="1948738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7070071" y="2040051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7424796" y="2277070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7583040" y="2420495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853688" y="2750280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963484" y="2933464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126746" y="3327613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78639" y="3534782"/>
            <a:ext cx="91440" cy="91440"/>
          </a:xfrm>
          <a:prstGeom prst="ellipse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495544" y="1234440"/>
            <a:ext cx="1188720" cy="1188720"/>
          </a:xfrm>
          <a:prstGeom prst="ellipse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95544" y="132588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1. FORWARD
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9784" y="475488"/>
            <a:ext cx="1920240" cy="731520"/>
          </a:xfrm>
          <a:prstGeom prst="rect">
            <a:avLst/>
          </a:prstGeom>
          <a:solidFill>
            <a:srgbClr val="0B162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221224" y="52120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A"/>
                </a:solidFill>
              </a:rPr>
              <a:t>Input -&gt; layers -&gt; prediction y</a:t>
            </a:r>
          </a:p>
        </p:txBody>
      </p:sp>
      <p:sp>
        <p:nvSpPr>
          <p:cNvPr id="86" name="Oval 85"/>
          <p:cNvSpPr/>
          <p:nvPr/>
        </p:nvSpPr>
        <p:spPr>
          <a:xfrm>
            <a:off x="7565301" y="2738206"/>
            <a:ext cx="1188720" cy="1188720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565301" y="2829646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2. COMPUTE
LOSS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38759" y="2661636"/>
            <a:ext cx="1920240" cy="731520"/>
          </a:xfrm>
          <a:prstGeom prst="rect">
            <a:avLst/>
          </a:prstGeom>
          <a:solidFill>
            <a:srgbClr val="0B162C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230199" y="2707356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A"/>
                </a:solidFill>
              </a:rPr>
              <a:t>L = loss(y, y_true)</a:t>
            </a:r>
          </a:p>
        </p:txBody>
      </p:sp>
      <p:sp>
        <p:nvSpPr>
          <p:cNvPr id="90" name="Oval 89"/>
          <p:cNvSpPr/>
          <p:nvPr/>
        </p:nvSpPr>
        <p:spPr>
          <a:xfrm>
            <a:off x="6774724" y="5171353"/>
            <a:ext cx="1188720" cy="1188720"/>
          </a:xfrm>
          <a:prstGeom prst="ellipse">
            <a:avLst/>
          </a:prstGeom>
          <a:solidFill>
            <a:srgbClr val="FF3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774724" y="5262793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3. BACKWARD
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89433" y="6198899"/>
            <a:ext cx="1920240" cy="731520"/>
          </a:xfrm>
          <a:prstGeom prst="rect">
            <a:avLst/>
          </a:prstGeom>
          <a:solidFill>
            <a:srgbClr val="0B162C"/>
          </a:solidFill>
          <a:ln w="12700">
            <a:solidFill>
              <a:srgbClr val="FF3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080873" y="62446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A"/>
                </a:solidFill>
              </a:rPr>
              <a:t>Chain rule: dL/dw for all w</a:t>
            </a:r>
          </a:p>
        </p:txBody>
      </p:sp>
      <p:sp>
        <p:nvSpPr>
          <p:cNvPr id="94" name="Oval 93"/>
          <p:cNvSpPr/>
          <p:nvPr/>
        </p:nvSpPr>
        <p:spPr>
          <a:xfrm>
            <a:off x="4216363" y="5171353"/>
            <a:ext cx="1188720" cy="1188720"/>
          </a:xfrm>
          <a:prstGeom prst="ellipse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216363" y="5262793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4. UPDATE
WEIGHTS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70134" y="6198899"/>
            <a:ext cx="1920240" cy="731520"/>
          </a:xfrm>
          <a:prstGeom prst="rect">
            <a:avLst/>
          </a:prstGeom>
          <a:solidFill>
            <a:srgbClr val="0B162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361574" y="62446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A"/>
                </a:solidFill>
              </a:rPr>
              <a:t>w &lt;- w - lr * dL/dw</a:t>
            </a:r>
          </a:p>
        </p:txBody>
      </p:sp>
      <p:sp>
        <p:nvSpPr>
          <p:cNvPr id="98" name="Oval 97"/>
          <p:cNvSpPr/>
          <p:nvPr/>
        </p:nvSpPr>
        <p:spPr>
          <a:xfrm>
            <a:off x="3425786" y="2738206"/>
            <a:ext cx="1188720" cy="118872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425786" y="2829646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40A18"/>
                </a:solidFill>
              </a:rPr>
              <a:t>5. NEXT
BATCH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20808" y="2661636"/>
            <a:ext cx="1920240" cy="731520"/>
          </a:xfrm>
          <a:prstGeom prst="rect">
            <a:avLst/>
          </a:prstGeom>
          <a:solidFill>
            <a:srgbClr val="0B162C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212248" y="2707356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A"/>
                </a:solidFill>
              </a:rPr>
              <a:t>Load next mini-batch, repeat</a:t>
            </a:r>
          </a:p>
        </p:txBody>
      </p:sp>
      <p:sp>
        <p:nvSpPr>
          <p:cNvPr id="102" name="Oval 101"/>
          <p:cNvSpPr/>
          <p:nvPr/>
        </p:nvSpPr>
        <p:spPr>
          <a:xfrm>
            <a:off x="5312664" y="3227832"/>
            <a:ext cx="1554480" cy="1554480"/>
          </a:xfrm>
          <a:prstGeom prst="ellipse">
            <a:avLst/>
          </a:prstGeom>
          <a:solidFill>
            <a:srgbClr val="101F3D"/>
          </a:solidFill>
          <a:ln w="254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312664" y="3593592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7096"/>
                </a:solidFill>
              </a:rPr>
              <a:t>NEURAL
NETWORK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6473952"/>
            <a:ext cx="11430000" cy="310896"/>
          </a:xfrm>
          <a:prstGeom prst="rect">
            <a:avLst/>
          </a:prstGeom>
          <a:solidFill>
            <a:srgbClr val="00283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65760" y="647395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0FF"/>
                </a:solidFill>
              </a:rPr>
              <a:t>1 Epoch = all batches processed once.   Typically 10-100 epochs.   Each batch = 32-512 samples.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Overfitting vs Underfitting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87096"/>
                </a:solidFill>
              </a:rPr>
              <a:t>The network must learn patterns, not memorise noise. Regularization keeps it honest.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UNDERFIT
Too Simple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011680"/>
            <a:ext cx="3154680" cy="2011680"/>
          </a:xfrm>
          <a:prstGeom prst="rect">
            <a:avLst/>
          </a:prstGeom>
          <a:solidFill>
            <a:srgbClr val="180A38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2920" y="4023360"/>
            <a:ext cx="3154680" cy="1905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2011680"/>
            <a:ext cx="19050" cy="20116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548640" y="2057400"/>
            <a:ext cx="274320" cy="10972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68680" y="20299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0FF"/>
                </a:solidFill>
              </a:rPr>
              <a:t>Train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2212848"/>
            <a:ext cx="274320" cy="10972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68680" y="218541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22D"/>
                </a:solidFill>
              </a:rPr>
              <a:t>Test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4632" y="4187952"/>
            <a:ext cx="31912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Model too simple
High train loss
High test loss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4632" y="5138928"/>
            <a:ext cx="3191256" cy="47548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84632" y="5138928"/>
            <a:ext cx="3191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0A18"/>
                </a:solidFill>
              </a:rPr>
              <a:t>FIX: Add layers</a:t>
            </a:r>
          </a:p>
        </p:txBody>
      </p:sp>
      <p:sp>
        <p:nvSpPr>
          <p:cNvPr id="101" name="Oval 100"/>
          <p:cNvSpPr/>
          <p:nvPr/>
        </p:nvSpPr>
        <p:spPr>
          <a:xfrm>
            <a:off x="1842516" y="575157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842516" y="58064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5CFF"/>
                </a:solidFill>
              </a:rPr>
              <a:t>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078224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GOOD FIT
Just Right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261104" y="2011680"/>
            <a:ext cx="3154680" cy="2011680"/>
          </a:xfrm>
          <a:prstGeom prst="rect">
            <a:avLst/>
          </a:prstGeom>
          <a:solidFill>
            <a:srgbClr val="00281C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261104" y="4023360"/>
            <a:ext cx="3154680" cy="1905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4261104" y="2011680"/>
            <a:ext cx="19050" cy="20116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9" name="Connector 10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/>
          <p:cNvSpPr/>
          <p:nvPr/>
        </p:nvSpPr>
        <p:spPr>
          <a:xfrm>
            <a:off x="4306824" y="2057400"/>
            <a:ext cx="274320" cy="10972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4626864" y="20299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0FF"/>
                </a:solidFill>
              </a:rPr>
              <a:t>Train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306824" y="2212848"/>
            <a:ext cx="274320" cy="10972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4626864" y="218541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22D"/>
                </a:solidFill>
              </a:rPr>
              <a:t>Test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242816" y="4187952"/>
            <a:ext cx="31912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Low train loss
Low test loss
Generalises well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242816" y="5138928"/>
            <a:ext cx="3191256" cy="47548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242816" y="5138928"/>
            <a:ext cx="3191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0A18"/>
                </a:solidFill>
              </a:rPr>
              <a:t>GOAL: Ship it!</a:t>
            </a:r>
          </a:p>
        </p:txBody>
      </p:sp>
      <p:sp>
        <p:nvSpPr>
          <p:cNvPr id="164" name="Oval 163"/>
          <p:cNvSpPr/>
          <p:nvPr/>
        </p:nvSpPr>
        <p:spPr>
          <a:xfrm>
            <a:off x="5600700" y="575157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5600700" y="58064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A0"/>
                </a:solidFill>
              </a:rPr>
              <a:t>2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836408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OVERFIT
Too Complex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019288" y="2011680"/>
            <a:ext cx="3154680" cy="2011680"/>
          </a:xfrm>
          <a:prstGeom prst="rect">
            <a:avLst/>
          </a:prstGeom>
          <a:solidFill>
            <a:srgbClr val="321406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8019288" y="4023360"/>
            <a:ext cx="3154680" cy="1905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8019288" y="2011680"/>
            <a:ext cx="19050" cy="2011680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2" name="Connector 17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FF7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ectangle 219"/>
          <p:cNvSpPr/>
          <p:nvPr/>
        </p:nvSpPr>
        <p:spPr>
          <a:xfrm>
            <a:off x="8065008" y="2057400"/>
            <a:ext cx="274320" cy="10972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8385048" y="20299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0FF"/>
                </a:solidFill>
              </a:rPr>
              <a:t>Train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065008" y="2212848"/>
            <a:ext cx="274320" cy="10972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8385048" y="218541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22D"/>
                </a:solidFill>
              </a:rPr>
              <a:t>Test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001000" y="4187952"/>
            <a:ext cx="31912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0FA"/>
                </a:solidFill>
              </a:rPr>
              <a:t>Very low train loss
High test loss
Memorises noise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001000" y="5138928"/>
            <a:ext cx="3191256" cy="47548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8001000" y="5138928"/>
            <a:ext cx="3191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0A18"/>
                </a:solidFill>
              </a:rPr>
              <a:t>FIX: Dropout
Regularization</a:t>
            </a:r>
          </a:p>
        </p:txBody>
      </p:sp>
      <p:sp>
        <p:nvSpPr>
          <p:cNvPr id="227" name="Oval 226"/>
          <p:cNvSpPr/>
          <p:nvPr/>
        </p:nvSpPr>
        <p:spPr>
          <a:xfrm>
            <a:off x="9358884" y="575157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9358884" y="58064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22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Convolutional Neural Networks (CNN)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550" y="98475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87096"/>
                </a:solidFill>
              </a:rPr>
              <a:t>CNNs slide small filters across images to detect spatial patterns — edges, shapes, objects.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25880"/>
            <a:ext cx="2670048" cy="532180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1325880"/>
            <a:ext cx="2670048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1325880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STEP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1828800"/>
            <a:ext cx="2670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0FF"/>
                </a:solidFill>
              </a:rPr>
              <a:t>INPUT
IMAGE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" y="2487168"/>
            <a:ext cx="347472" cy="347472"/>
          </a:xfrm>
          <a:prstGeom prst="rect">
            <a:avLst/>
          </a:prstGeom>
          <a:solidFill>
            <a:srgbClr val="1E287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05256" y="2487168"/>
            <a:ext cx="347472" cy="347472"/>
          </a:xfrm>
          <a:prstGeom prst="rect">
            <a:avLst/>
          </a:prstGeom>
          <a:solidFill>
            <a:srgbClr val="41288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289304" y="2487168"/>
            <a:ext cx="347472" cy="347472"/>
          </a:xfrm>
          <a:prstGeom prst="rect">
            <a:avLst/>
          </a:prstGeom>
          <a:solidFill>
            <a:srgbClr val="6428A0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673352" y="2487168"/>
            <a:ext cx="347472" cy="347472"/>
          </a:xfrm>
          <a:prstGeom prst="rect">
            <a:avLst/>
          </a:prstGeom>
          <a:solidFill>
            <a:srgbClr val="8728B4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057400" y="2487168"/>
            <a:ext cx="347472" cy="347472"/>
          </a:xfrm>
          <a:prstGeom prst="rect">
            <a:avLst/>
          </a:prstGeom>
          <a:solidFill>
            <a:srgbClr val="AA28C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1208" y="2871216"/>
            <a:ext cx="347472" cy="347472"/>
          </a:xfrm>
          <a:prstGeom prst="rect">
            <a:avLst/>
          </a:prstGeom>
          <a:solidFill>
            <a:srgbClr val="1E467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05256" y="2871216"/>
            <a:ext cx="347472" cy="347472"/>
          </a:xfrm>
          <a:prstGeom prst="rect">
            <a:avLst/>
          </a:prstGeom>
          <a:solidFill>
            <a:srgbClr val="41468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289304" y="2871216"/>
            <a:ext cx="347472" cy="347472"/>
          </a:xfrm>
          <a:prstGeom prst="rect">
            <a:avLst/>
          </a:prstGeom>
          <a:solidFill>
            <a:srgbClr val="6446A0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673352" y="2871216"/>
            <a:ext cx="347472" cy="347472"/>
          </a:xfrm>
          <a:prstGeom prst="rect">
            <a:avLst/>
          </a:prstGeom>
          <a:solidFill>
            <a:srgbClr val="8746B4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057400" y="2871216"/>
            <a:ext cx="347472" cy="347472"/>
          </a:xfrm>
          <a:prstGeom prst="rect">
            <a:avLst/>
          </a:prstGeom>
          <a:solidFill>
            <a:srgbClr val="AA46C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21208" y="3255264"/>
            <a:ext cx="347472" cy="347472"/>
          </a:xfrm>
          <a:prstGeom prst="rect">
            <a:avLst/>
          </a:prstGeom>
          <a:solidFill>
            <a:srgbClr val="1E647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05256" y="3255264"/>
            <a:ext cx="347472" cy="347472"/>
          </a:xfrm>
          <a:prstGeom prst="rect">
            <a:avLst/>
          </a:prstGeom>
          <a:solidFill>
            <a:srgbClr val="41648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289304" y="3255264"/>
            <a:ext cx="347472" cy="347472"/>
          </a:xfrm>
          <a:prstGeom prst="rect">
            <a:avLst/>
          </a:prstGeom>
          <a:solidFill>
            <a:srgbClr val="6464A0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673352" y="3255264"/>
            <a:ext cx="347472" cy="347472"/>
          </a:xfrm>
          <a:prstGeom prst="rect">
            <a:avLst/>
          </a:prstGeom>
          <a:solidFill>
            <a:srgbClr val="8764B4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057400" y="3255264"/>
            <a:ext cx="347472" cy="347472"/>
          </a:xfrm>
          <a:prstGeom prst="rect">
            <a:avLst/>
          </a:prstGeom>
          <a:solidFill>
            <a:srgbClr val="AA64C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21208" y="3639312"/>
            <a:ext cx="347472" cy="347472"/>
          </a:xfrm>
          <a:prstGeom prst="rect">
            <a:avLst/>
          </a:prstGeom>
          <a:solidFill>
            <a:srgbClr val="1E827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05256" y="3639312"/>
            <a:ext cx="347472" cy="347472"/>
          </a:xfrm>
          <a:prstGeom prst="rect">
            <a:avLst/>
          </a:prstGeom>
          <a:solidFill>
            <a:srgbClr val="41828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289304" y="3639312"/>
            <a:ext cx="347472" cy="347472"/>
          </a:xfrm>
          <a:prstGeom prst="rect">
            <a:avLst/>
          </a:prstGeom>
          <a:solidFill>
            <a:srgbClr val="6482A0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673352" y="3639312"/>
            <a:ext cx="347472" cy="347472"/>
          </a:xfrm>
          <a:prstGeom prst="rect">
            <a:avLst/>
          </a:prstGeom>
          <a:solidFill>
            <a:srgbClr val="8782B4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057400" y="3639312"/>
            <a:ext cx="347472" cy="347472"/>
          </a:xfrm>
          <a:prstGeom prst="rect">
            <a:avLst/>
          </a:prstGeom>
          <a:solidFill>
            <a:srgbClr val="AA82C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21208" y="4023360"/>
            <a:ext cx="347472" cy="347472"/>
          </a:xfrm>
          <a:prstGeom prst="rect">
            <a:avLst/>
          </a:prstGeom>
          <a:solidFill>
            <a:srgbClr val="1EA07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5256" y="4023360"/>
            <a:ext cx="347472" cy="347472"/>
          </a:xfrm>
          <a:prstGeom prst="rect">
            <a:avLst/>
          </a:prstGeom>
          <a:solidFill>
            <a:srgbClr val="41A08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289304" y="4023360"/>
            <a:ext cx="347472" cy="347472"/>
          </a:xfrm>
          <a:prstGeom prst="rect">
            <a:avLst/>
          </a:prstGeom>
          <a:solidFill>
            <a:srgbClr val="64A0A0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673352" y="4023360"/>
            <a:ext cx="347472" cy="347472"/>
          </a:xfrm>
          <a:prstGeom prst="rect">
            <a:avLst/>
          </a:prstGeom>
          <a:solidFill>
            <a:srgbClr val="87A0B4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057400" y="4023360"/>
            <a:ext cx="347472" cy="347472"/>
          </a:xfrm>
          <a:prstGeom prst="rect">
            <a:avLst/>
          </a:prstGeom>
          <a:solidFill>
            <a:srgbClr val="AAA0C8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48056" y="4681728"/>
            <a:ext cx="24140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224x224 RGB
Tensor (1,224,224,3)
Raw pixel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" y="5623560"/>
            <a:ext cx="2414016" cy="329184"/>
          </a:xfrm>
          <a:prstGeom prst="rect">
            <a:avLst/>
          </a:prstGeom>
          <a:solidFill>
            <a:srgbClr val="101F3D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48056" y="5623560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0FF"/>
                </a:solidFill>
              </a:rPr>
              <a:t>(1,224,224,3)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08376" y="301752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0FF"/>
                </a:solidFill>
              </a:rPr>
              <a:t>&gt;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191256" y="1325880"/>
            <a:ext cx="2670048" cy="532180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191256" y="1325880"/>
            <a:ext cx="2670048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191256" y="1325880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STEP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91256" y="1828800"/>
            <a:ext cx="2670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A0"/>
                </a:solidFill>
              </a:rPr>
              <a:t>CONVOLUTION
+ ReLU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47288" y="248716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858768" y="248716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270248" y="248716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681728" y="248716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447288" y="289864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858768" y="289864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270248" y="289864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681728" y="289864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447288" y="331012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858768" y="331012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270248" y="331012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681728" y="331012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447288" y="372160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858768" y="372160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270248" y="372160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681728" y="3721608"/>
            <a:ext cx="365760" cy="365760"/>
          </a:xfrm>
          <a:prstGeom prst="rect">
            <a:avLst/>
          </a:prstGeom>
          <a:solidFill>
            <a:srgbClr val="00281C"/>
          </a:solidFill>
          <a:ln w="12700">
            <a:solidFill>
              <a:srgbClr val="18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858768" y="289864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70248" y="289864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681728" y="289864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858768" y="331012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270248" y="331012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681728" y="331012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858768" y="372160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270248" y="372160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681728" y="3721608"/>
            <a:ext cx="365760" cy="365760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319272" y="4681728"/>
            <a:ext cx="24140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3x3 filters slide
across the image
Detects edges/textures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19272" y="5623560"/>
            <a:ext cx="2414016" cy="329184"/>
          </a:xfrm>
          <a:prstGeom prst="rect">
            <a:avLst/>
          </a:prstGeom>
          <a:solidFill>
            <a:srgbClr val="101F3D"/>
          </a:solidFill>
          <a:ln w="127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319272" y="5623560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A0"/>
                </a:solidFill>
              </a:rPr>
              <a:t>(1,112,112,64)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79592" y="301752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FA0"/>
                </a:solidFill>
              </a:rPr>
              <a:t>&gt;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062472" y="1325880"/>
            <a:ext cx="2670048" cy="532180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062472" y="1325880"/>
            <a:ext cx="2670048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062472" y="1325880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STEP 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062472" y="1828800"/>
            <a:ext cx="2670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CFF"/>
                </a:solidFill>
              </a:rPr>
              <a:t>POOLING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82512" y="2487168"/>
            <a:ext cx="713232" cy="713232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382512" y="2487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A0"/>
                </a:solidFill>
              </a:rPr>
              <a:t>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59752" y="2487168"/>
            <a:ext cx="713232" cy="713232"/>
          </a:xfrm>
          <a:prstGeom prst="rect">
            <a:avLst/>
          </a:prstGeom>
          <a:solidFill>
            <a:srgbClr val="180A38"/>
          </a:solidFill>
          <a:ln w="1270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159752" y="2487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7096"/>
                </a:solidFill>
              </a:rPr>
              <a:t>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382512" y="3264408"/>
            <a:ext cx="713232" cy="713232"/>
          </a:xfrm>
          <a:prstGeom prst="rect">
            <a:avLst/>
          </a:prstGeom>
          <a:solidFill>
            <a:srgbClr val="180A38"/>
          </a:solidFill>
          <a:ln w="12700">
            <a:solidFill>
              <a:srgbClr val="587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382512" y="326440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7096"/>
                </a:solidFill>
              </a:rPr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159752" y="3264408"/>
            <a:ext cx="713232" cy="713232"/>
          </a:xfrm>
          <a:prstGeom prst="rect">
            <a:avLst/>
          </a:prstGeom>
          <a:solidFill>
            <a:srgbClr val="00281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159752" y="326440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A0"/>
                </a:solidFill>
              </a:rPr>
              <a:t>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90488" y="4681728"/>
            <a:ext cx="24140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Max/Avg pooling
Shrinks feature maps
Keeps strongest signals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90488" y="5623560"/>
            <a:ext cx="2414016" cy="329184"/>
          </a:xfrm>
          <a:prstGeom prst="rect">
            <a:avLst/>
          </a:prstGeom>
          <a:solidFill>
            <a:srgbClr val="101F3D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190488" y="5623560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5CFF"/>
                </a:solidFill>
              </a:rPr>
              <a:t>(1,56,56,64)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750808" y="301752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5CFF"/>
                </a:solidFill>
              </a:rPr>
              <a:t>&gt;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933688" y="1325880"/>
            <a:ext cx="2670048" cy="532180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8933688" y="1325880"/>
            <a:ext cx="2670048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933688" y="1325880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STEP 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33688" y="1828800"/>
            <a:ext cx="2670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22D"/>
                </a:solidFill>
              </a:rPr>
              <a:t>CLASSIFY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16568" y="2487168"/>
            <a:ext cx="2304288" cy="347472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9116568" y="2487168"/>
            <a:ext cx="1814535" cy="34747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162288" y="25328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0A18"/>
                </a:solidFill>
              </a:rPr>
              <a:t>Cat 82%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16568" y="2962656"/>
            <a:ext cx="2304288" cy="347472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116568" y="2962656"/>
            <a:ext cx="265541" cy="34747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162288" y="3008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0A18"/>
                </a:solidFill>
              </a:rPr>
              <a:t>Dog 12%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116568" y="3438144"/>
            <a:ext cx="2304288" cy="347472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116568" y="3438144"/>
            <a:ext cx="91440" cy="34747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162288" y="3483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0A18"/>
                </a:solidFill>
              </a:rPr>
              <a:t>Bird 4%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16568" y="3913632"/>
            <a:ext cx="2304288" cy="347472"/>
          </a:xfrm>
          <a:prstGeom prst="rect">
            <a:avLst/>
          </a:prstGeom>
          <a:solidFill>
            <a:srgbClr val="1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9116568" y="3913632"/>
            <a:ext cx="91440" cy="34747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162288" y="39593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0A18"/>
                </a:solidFill>
              </a:rPr>
              <a:t>Car 2%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61704" y="4681728"/>
            <a:ext cx="24140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Flatten -&gt; Dense
Softmax output
Class probabilities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061704" y="5623560"/>
            <a:ext cx="2414016" cy="329184"/>
          </a:xfrm>
          <a:prstGeom prst="rect">
            <a:avLst/>
          </a:prstGeom>
          <a:solidFill>
            <a:srgbClr val="101F3D"/>
          </a:solidFill>
          <a:ln w="127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061704" y="5623560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22D"/>
                </a:solidFill>
              </a:rPr>
              <a:t>(1,1000)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Sequence Models — RNN to Transformer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100304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87096"/>
                </a:solidFill>
              </a:rPr>
              <a:t>The evolution of processing sequential data: text, audio, time-series.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STEP 1
2014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192024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0FF"/>
                </a:solidFill>
              </a:rPr>
              <a:t>RNN
Recurrent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724912"/>
            <a:ext cx="788670" cy="347472"/>
          </a:xfrm>
          <a:prstGeom prst="rect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0FF"/>
                </a:solidFill>
              </a:rPr>
              <a:t>The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68730" y="2724912"/>
            <a:ext cx="788670" cy="347472"/>
          </a:xfrm>
          <a:prstGeom prst="rect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68730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0FF"/>
                </a:solidFill>
              </a:rPr>
              <a:t>cat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80260" y="2724912"/>
            <a:ext cx="788670" cy="347472"/>
          </a:xfrm>
          <a:prstGeom prst="rect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80260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0FF"/>
                </a:solidFill>
              </a:rPr>
              <a:t>sat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91790" y="2724912"/>
            <a:ext cx="788670" cy="347472"/>
          </a:xfrm>
          <a:prstGeom prst="rect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891790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0FF"/>
                </a:solidFill>
              </a:rPr>
              <a:t>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45870" y="2706624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0FF"/>
                </a:solidFill>
              </a:rPr>
              <a:t>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706624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0FF"/>
                </a:solidFill>
              </a:rPr>
              <a:t>&gt;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68930" y="2706624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0FF"/>
                </a:solidFill>
              </a:rPr>
              <a:t>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" y="3474720"/>
            <a:ext cx="3264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Process tokens
one at a time
Hidden state = memory
Problem: forgets
long sequences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" y="5074920"/>
            <a:ext cx="3191256" cy="621792"/>
          </a:xfrm>
          <a:prstGeom prst="rect">
            <a:avLst/>
          </a:prstGeom>
          <a:solidFill>
            <a:srgbClr val="002838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4632" y="5074920"/>
            <a:ext cx="31912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0FF"/>
                </a:solidFill>
              </a:rPr>
              <a:t>Sequential
= slow</a:t>
            </a:r>
          </a:p>
        </p:txBody>
      </p:sp>
      <p:sp>
        <p:nvSpPr>
          <p:cNvPr id="58" name="Oval 57"/>
          <p:cNvSpPr/>
          <p:nvPr/>
        </p:nvSpPr>
        <p:spPr>
          <a:xfrm>
            <a:off x="1842516" y="57972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842516" y="58521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0FF"/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58768" y="274320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0FF"/>
                </a:solidFill>
              </a:rPr>
              <a:t>&gt;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78224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078224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STEP 2
2017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78224" y="192024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A0"/>
                </a:solidFill>
              </a:rPr>
              <a:t>LSTM / GRU
Gated Recurrent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15384" y="2724912"/>
            <a:ext cx="788670" cy="347472"/>
          </a:xfrm>
          <a:prstGeom prst="rect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215384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A0"/>
                </a:solidFill>
              </a:rPr>
              <a:t>The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6914" y="2724912"/>
            <a:ext cx="788670" cy="347472"/>
          </a:xfrm>
          <a:prstGeom prst="rect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6914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A0"/>
                </a:solidFill>
              </a:rPr>
              <a:t>cat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38444" y="2724912"/>
            <a:ext cx="788670" cy="347472"/>
          </a:xfrm>
          <a:prstGeom prst="rect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38444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A0"/>
                </a:solidFill>
              </a:rPr>
              <a:t>sat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49974" y="2724912"/>
            <a:ext cx="788670" cy="347472"/>
          </a:xfrm>
          <a:prstGeom prst="rect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649974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A0"/>
                </a:solidFill>
              </a:rPr>
              <a:t>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2342" y="2779776"/>
            <a:ext cx="128016" cy="237744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2342" y="2779776"/>
            <a:ext cx="128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40A18"/>
                </a:solidFill>
              </a:rPr>
              <a:t>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33872" y="2779776"/>
            <a:ext cx="128016" cy="237744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833872" y="2779776"/>
            <a:ext cx="128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40A18"/>
                </a:solidFill>
              </a:rPr>
              <a:t>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45402" y="2779776"/>
            <a:ext cx="128016" cy="237744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45402" y="2779776"/>
            <a:ext cx="128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40A18"/>
                </a:solidFill>
              </a:rPr>
              <a:t>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0" y="3474720"/>
            <a:ext cx="3264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Gates control
what to remember
and what to forget
Better at long
sequences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42816" y="5074920"/>
            <a:ext cx="3191256" cy="621792"/>
          </a:xfrm>
          <a:prstGeom prst="rect">
            <a:avLst/>
          </a:prstGeom>
          <a:solidFill>
            <a:srgbClr val="00281C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42816" y="5074920"/>
            <a:ext cx="31912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A0"/>
                </a:solidFill>
              </a:rPr>
              <a:t>Better memory
still sequential</a:t>
            </a:r>
          </a:p>
        </p:txBody>
      </p:sp>
      <p:sp>
        <p:nvSpPr>
          <p:cNvPr id="82" name="Oval 81"/>
          <p:cNvSpPr/>
          <p:nvPr/>
        </p:nvSpPr>
        <p:spPr>
          <a:xfrm>
            <a:off x="5600700" y="57972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600700" y="58521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A0"/>
                </a:solidFill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16952" y="274320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FA0"/>
                </a:solidFill>
              </a:rPr>
              <a:t>&gt;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36408" y="1371600"/>
            <a:ext cx="3520440" cy="5230368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36408" y="137160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STEP 3
2017+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36408" y="192024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85CFF"/>
                </a:solidFill>
              </a:rPr>
              <a:t>TRANSFORMER
Attention-Based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73568" y="2724912"/>
            <a:ext cx="788670" cy="347472"/>
          </a:xfrm>
          <a:prstGeom prst="rect">
            <a:avLst/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973568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CFF"/>
                </a:solidFill>
              </a:rPr>
              <a:t>The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85098" y="2724912"/>
            <a:ext cx="788670" cy="347472"/>
          </a:xfrm>
          <a:prstGeom prst="rect">
            <a:avLst/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85098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CFF"/>
                </a:solidFill>
              </a:rPr>
              <a:t>cat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96628" y="2724912"/>
            <a:ext cx="788670" cy="347472"/>
          </a:xfrm>
          <a:prstGeom prst="rect">
            <a:avLst/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596628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CFF"/>
                </a:solidFill>
              </a:rPr>
              <a:t>sat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408158" y="2724912"/>
            <a:ext cx="788670" cy="347472"/>
          </a:xfrm>
          <a:prstGeom prst="rect">
            <a:avLst/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408158" y="2724912"/>
            <a:ext cx="78867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CFF"/>
                </a:solidFill>
              </a:rPr>
              <a:t>on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0" y="3108960"/>
            <a:ext cx="0" cy="274320"/>
          </a:xfrm>
          <a:prstGeom prst="line">
            <a:avLst/>
          </a:prstGeom>
          <a:ln w="6350">
            <a:solidFill>
              <a:srgbClr val="1828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964424" y="3474720"/>
            <a:ext cx="3264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A"/>
                </a:solidFill>
              </a:rPr>
              <a:t>All tokens processed
in parallel
Attention: every token
sees every other
token — breakthrough!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5074920"/>
            <a:ext cx="3191256" cy="621792"/>
          </a:xfrm>
          <a:prstGeom prst="rect">
            <a:avLst/>
          </a:prstGeom>
          <a:solidFill>
            <a:srgbClr val="A85CFF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001000" y="5074920"/>
            <a:ext cx="31912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Parallel
= breakthrough!</a:t>
            </a:r>
          </a:p>
        </p:txBody>
      </p:sp>
      <p:sp>
        <p:nvSpPr>
          <p:cNvPr id="112" name="Oval 111"/>
          <p:cNvSpPr/>
          <p:nvPr/>
        </p:nvSpPr>
        <p:spPr>
          <a:xfrm>
            <a:off x="9358884" y="5797296"/>
            <a:ext cx="475488" cy="475488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58884" y="58521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5C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111556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0FF"/>
                </a:solidFill>
              </a:rPr>
              <a:t>SLIDE 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310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0FA"/>
                </a:solidFill>
              </a:rPr>
              <a:t>Inside the Transformer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1152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87096"/>
                </a:solidFill>
              </a:rPr>
              <a:t>GPT, Claude, and Gemini are ALL Transformers — stacked attention + feed-forward blocks.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1325880"/>
            <a:ext cx="4754880" cy="117043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3776" y="138074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0A18"/>
                </a:solidFill>
              </a:rPr>
              <a:t>1. Input Tokens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" y="18288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40A18"/>
                </a:solidFill>
              </a:rPr>
              <a:t>Text -&gt; [Token IDs]</a:t>
            </a:r>
          </a:p>
        </p:txBody>
      </p:sp>
      <p:sp>
        <p:nvSpPr>
          <p:cNvPr id="43" name="Oval 42"/>
          <p:cNvSpPr/>
          <p:nvPr/>
        </p:nvSpPr>
        <p:spPr>
          <a:xfrm>
            <a:off x="4389120" y="1591056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0" y="16184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0FF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8608" y="251460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7096"/>
                </a:solidFill>
              </a:rPr>
              <a:t>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2660904"/>
            <a:ext cx="4553712" cy="117043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4944" y="2715768"/>
            <a:ext cx="4370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0A18"/>
                </a:solidFill>
              </a:rPr>
              <a:t>2. Token + Pos Embed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3163824"/>
            <a:ext cx="43708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40A18"/>
                </a:solidFill>
              </a:rPr>
              <a:t>ID -&gt; 512-dim vector + position</a:t>
            </a:r>
          </a:p>
        </p:txBody>
      </p:sp>
      <p:sp>
        <p:nvSpPr>
          <p:cNvPr id="49" name="Oval 48"/>
          <p:cNvSpPr/>
          <p:nvPr/>
        </p:nvSpPr>
        <p:spPr>
          <a:xfrm>
            <a:off x="4590288" y="2926080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90288" y="29535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A0"/>
                </a:solidFill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3849624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7096"/>
                </a:solidFill>
              </a:rPr>
              <a:t>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3995928"/>
            <a:ext cx="4553712" cy="117043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4944" y="4050792"/>
            <a:ext cx="4370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0A18"/>
                </a:solidFill>
              </a:rPr>
              <a:t>3. N x Transformer
    Blocks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4498848"/>
            <a:ext cx="43708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40A18"/>
                </a:solidFill>
              </a:rPr>
              <a:t>Attention + FFN + LayerNorm
Repeated 12-96 times</a:t>
            </a:r>
          </a:p>
        </p:txBody>
      </p:sp>
      <p:sp>
        <p:nvSpPr>
          <p:cNvPr id="55" name="Oval 54"/>
          <p:cNvSpPr/>
          <p:nvPr/>
        </p:nvSpPr>
        <p:spPr>
          <a:xfrm>
            <a:off x="4590288" y="4261104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90288" y="4288536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CFF"/>
                </a:solidFill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78608" y="518464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7096"/>
                </a:solidFill>
              </a:rPr>
              <a:t>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330952"/>
            <a:ext cx="4754880" cy="117043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3776" y="538581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0A18"/>
                </a:solidFill>
              </a:rPr>
              <a:t>4. Output Head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" y="583387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40A18"/>
                </a:solidFill>
              </a:rPr>
              <a:t>Linear + Softmax -&gt; next token prob</a:t>
            </a:r>
          </a:p>
        </p:txBody>
      </p:sp>
      <p:sp>
        <p:nvSpPr>
          <p:cNvPr id="61" name="Oval 60"/>
          <p:cNvSpPr/>
          <p:nvPr/>
        </p:nvSpPr>
        <p:spPr>
          <a:xfrm>
            <a:off x="4389120" y="5596128"/>
            <a:ext cx="640080" cy="640080"/>
          </a:xfrm>
          <a:prstGeom prst="ellipse">
            <a:avLst/>
          </a:prstGeom>
          <a:solidFill>
            <a:srgbClr val="0B162C"/>
          </a:solidFill>
          <a:ln w="2540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89120" y="5623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22D"/>
                </a:solidFill>
              </a:rP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94960" y="1325880"/>
            <a:ext cx="6492240" cy="5285232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94960" y="1389888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CFF"/>
                </a:solidFill>
              </a:rPr>
              <a:t>INSIDE ONE TRANSFORMER BLOCK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77840" y="1847088"/>
            <a:ext cx="6126480" cy="1024128"/>
          </a:xfrm>
          <a:prstGeom prst="rect">
            <a:avLst/>
          </a:prstGeom>
          <a:solidFill>
            <a:srgbClr val="101F3D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577840" y="1847088"/>
            <a:ext cx="91440" cy="102412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60720" y="19019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CFF"/>
                </a:solidFill>
              </a:rPr>
              <a:t>Multi-Head Attention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0720" y="2258568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A"/>
                </a:solidFill>
              </a:rPr>
              <a:t>8 parallel attention heads
Q*K^T/sqrt(d) softmax * V
Captures token relationships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76488" y="287121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7096"/>
                </a:solidFill>
              </a:rPr>
              <a:t>v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3035808"/>
            <a:ext cx="6126480" cy="1024128"/>
          </a:xfrm>
          <a:prstGeom prst="rect">
            <a:avLst/>
          </a:prstGeom>
          <a:solidFill>
            <a:srgbClr val="101F3D"/>
          </a:solidFill>
          <a:ln w="190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577840" y="3035808"/>
            <a:ext cx="91440" cy="102412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760720" y="30906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FF"/>
                </a:solidFill>
              </a:rPr>
              <a:t>Add &amp; Layer Norm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0" y="3447288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A"/>
                </a:solidFill>
              </a:rPr>
              <a:t>Residual: x + Attention(x)
LayerNorm stabilises training
Prevents gradient issues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76488" y="405993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7096"/>
                </a:solidFill>
              </a:rPr>
              <a:t>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77840" y="4224528"/>
            <a:ext cx="6126480" cy="1024128"/>
          </a:xfrm>
          <a:prstGeom prst="rect">
            <a:avLst/>
          </a:prstGeom>
          <a:solidFill>
            <a:srgbClr val="101F3D"/>
          </a:solidFill>
          <a:ln w="190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577840" y="4224528"/>
            <a:ext cx="91440" cy="102412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0" y="42793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0"/>
                </a:solidFill>
              </a:rPr>
              <a:t>Feed-Forward Network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4636008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A"/>
                </a:solidFill>
              </a:rPr>
              <a:t>Linear(512-&gt;2048) + GELU
+ Linear(2048-&gt;512)
Applied per token independently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76488" y="524865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7096"/>
                </a:solidFill>
              </a:rPr>
              <a:t>v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77840" y="5413248"/>
            <a:ext cx="6126480" cy="1024128"/>
          </a:xfrm>
          <a:prstGeom prst="rect">
            <a:avLst/>
          </a:prstGeom>
          <a:solidFill>
            <a:srgbClr val="101F3D"/>
          </a:solidFill>
          <a:ln w="190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577840" y="5413248"/>
            <a:ext cx="91440" cy="102412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760720" y="5468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22D"/>
                </a:solidFill>
              </a:rPr>
              <a:t>Add &amp; Layer Norm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0" y="5824728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A"/>
                </a:solidFill>
              </a:rPr>
              <a:t>Residual: x + FFN(x)
Output tensor ready
for next block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94960" y="6492240"/>
            <a:ext cx="6492240" cy="292608"/>
          </a:xfrm>
          <a:prstGeom prst="rect">
            <a:avLst/>
          </a:prstGeom>
          <a:solidFill>
            <a:srgbClr val="180A38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394960" y="649224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CFF"/>
                </a:solidFill>
              </a:rPr>
              <a:t>Attention(Q,K,V) = softmax( Q * K^T / sqrt(d_k) ) * V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MODERN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Deep Learning &amp;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Transformer (Vaswani et al. 2017) replaced RNNs as the dominant architecture. Every major LLM — GPT, Claude, Gemini — is a transformer.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304288"/>
            <a:ext cx="21488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2304288"/>
            <a:ext cx="214884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414016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Token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07208"/>
            <a:ext cx="1828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Words → dense vectors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Learnable lookup 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shape: (batch, seq_len, d_model)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1488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2304288"/>
            <a:ext cx="21488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24912" y="2304288"/>
            <a:ext cx="214884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07792" y="2414016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Positional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807208"/>
            <a:ext cx="1828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Injects order information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Sin/cos or learnable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Transformer has no inherent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3657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4" y="2304288"/>
            <a:ext cx="21488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38344" y="2304288"/>
            <a:ext cx="2148840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21224" y="2414016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Multi-Head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924872"/>
            <a:ext cx="1828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token attends to all others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Q·Kᵀ/√d  </a:t>
            </a:r>
            <a:r>
              <a:rPr kumimoji="0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softmax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·V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Captures long-range 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657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51776" y="2304288"/>
            <a:ext cx="21488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51776" y="2304288"/>
            <a:ext cx="2148840" cy="4572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34656" y="2414016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Feed-Forward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2807208"/>
            <a:ext cx="1828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2-layer MLP per position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Expands dim → non-linearity → shrinks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~⅔ of transformer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657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65208" y="2304288"/>
            <a:ext cx="2148840" cy="3246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665208" y="2304288"/>
            <a:ext cx="2148840" cy="4572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48088" y="2414016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7816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Norm + Residuals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2990088"/>
            <a:ext cx="1828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Stabilise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deep training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+ sublayer(x)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Enables 100+ layer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Scale law: more parameters + more data + more compute → emergent capabilities (reasoning, code, math, multimodality).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9284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1887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7830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23774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9718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35661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416052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534924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635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0"/>
                </a:solidFill>
              </a:rPr>
              <a:t>SLIDE 20 ·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29260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F0FA"/>
                </a:solidFill>
              </a:rPr>
              <a:t>The Complete Deep Learning Pipeline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1024128"/>
            <a:ext cx="2670048" cy="566928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317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1024128"/>
            <a:ext cx="2670048" cy="438912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1024128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PHASE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1536192"/>
            <a:ext cx="26700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0FF"/>
                </a:solidFill>
              </a:rPr>
              <a:t>DESIGN
ARCHITECTURE</a:t>
            </a:r>
          </a:p>
        </p:txBody>
      </p:sp>
      <p:sp>
        <p:nvSpPr>
          <p:cNvPr id="43" name="Oval 42"/>
          <p:cNvSpPr/>
          <p:nvPr/>
        </p:nvSpPr>
        <p:spPr>
          <a:xfrm>
            <a:off x="1271016" y="2194560"/>
            <a:ext cx="768096" cy="768096"/>
          </a:xfrm>
          <a:prstGeom prst="ellipse">
            <a:avLst/>
          </a:prstGeom>
          <a:solidFill>
            <a:srgbClr val="002838"/>
          </a:solidFill>
          <a:ln w="3175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71016" y="2240280"/>
            <a:ext cx="7680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0FF"/>
                </a:solidFill>
              </a:rPr>
              <a:t>1</a:t>
            </a:r>
          </a:p>
        </p:txBody>
      </p:sp>
      <p:sp>
        <p:nvSpPr>
          <p:cNvPr id="45" name="Oval 44"/>
          <p:cNvSpPr/>
          <p:nvPr/>
        </p:nvSpPr>
        <p:spPr>
          <a:xfrm>
            <a:off x="484632" y="3191256"/>
            <a:ext cx="182880" cy="182880"/>
          </a:xfrm>
          <a:prstGeom prst="ellipse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315468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Choose layer types &amp; sizes</a:t>
            </a:r>
          </a:p>
        </p:txBody>
      </p:sp>
      <p:sp>
        <p:nvSpPr>
          <p:cNvPr id="47" name="Oval 46"/>
          <p:cNvSpPr/>
          <p:nvPr/>
        </p:nvSpPr>
        <p:spPr>
          <a:xfrm>
            <a:off x="484632" y="3785616"/>
            <a:ext cx="182880" cy="182880"/>
          </a:xfrm>
          <a:prstGeom prst="ellipse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8952" y="374904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Pick activation functions</a:t>
            </a:r>
          </a:p>
        </p:txBody>
      </p:sp>
      <p:sp>
        <p:nvSpPr>
          <p:cNvPr id="49" name="Oval 48"/>
          <p:cNvSpPr/>
          <p:nvPr/>
        </p:nvSpPr>
        <p:spPr>
          <a:xfrm>
            <a:off x="484632" y="4379976"/>
            <a:ext cx="182880" cy="182880"/>
          </a:xfrm>
          <a:prstGeom prst="ellipse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8952" y="434340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Define input/output shapes</a:t>
            </a:r>
          </a:p>
        </p:txBody>
      </p:sp>
      <p:sp>
        <p:nvSpPr>
          <p:cNvPr id="51" name="Oval 50"/>
          <p:cNvSpPr/>
          <p:nvPr/>
        </p:nvSpPr>
        <p:spPr>
          <a:xfrm>
            <a:off x="484632" y="4974336"/>
            <a:ext cx="182880" cy="182880"/>
          </a:xfrm>
          <a:prstGeom prst="ellipse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8952" y="493776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Initialise weights randomly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" y="5596128"/>
            <a:ext cx="2414016" cy="384048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8056" y="559612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A18"/>
                </a:solidFill>
              </a:rPr>
              <a:t>Architecture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08376" y="28346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0FF"/>
                </a:solidFill>
              </a:rPr>
              <a:t>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91256" y="1024128"/>
            <a:ext cx="2670048" cy="566928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317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191256" y="1024128"/>
            <a:ext cx="2670048" cy="438912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191256" y="1024128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PHASE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91256" y="1536192"/>
            <a:ext cx="26700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A0"/>
                </a:solidFill>
              </a:rPr>
              <a:t>FORWARD
PASS</a:t>
            </a:r>
          </a:p>
        </p:txBody>
      </p:sp>
      <p:sp>
        <p:nvSpPr>
          <p:cNvPr id="60" name="Oval 59"/>
          <p:cNvSpPr/>
          <p:nvPr/>
        </p:nvSpPr>
        <p:spPr>
          <a:xfrm>
            <a:off x="4142232" y="2194560"/>
            <a:ext cx="768096" cy="768096"/>
          </a:xfrm>
          <a:prstGeom prst="ellipse">
            <a:avLst/>
          </a:prstGeom>
          <a:solidFill>
            <a:srgbClr val="00281C"/>
          </a:solidFill>
          <a:ln w="31750">
            <a:solidFill>
              <a:srgbClr val="00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42232" y="2240280"/>
            <a:ext cx="7680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FFA0"/>
                </a:solidFill>
              </a:rPr>
              <a:t>2</a:t>
            </a:r>
          </a:p>
        </p:txBody>
      </p:sp>
      <p:sp>
        <p:nvSpPr>
          <p:cNvPr id="62" name="Oval 61"/>
          <p:cNvSpPr/>
          <p:nvPr/>
        </p:nvSpPr>
        <p:spPr>
          <a:xfrm>
            <a:off x="3355848" y="3191256"/>
            <a:ext cx="182880" cy="182880"/>
          </a:xfrm>
          <a:prstGeom prst="ellipse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30168" y="315468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Input tensor enters network</a:t>
            </a:r>
          </a:p>
        </p:txBody>
      </p:sp>
      <p:sp>
        <p:nvSpPr>
          <p:cNvPr id="64" name="Oval 63"/>
          <p:cNvSpPr/>
          <p:nvPr/>
        </p:nvSpPr>
        <p:spPr>
          <a:xfrm>
            <a:off x="3355848" y="3785616"/>
            <a:ext cx="182880" cy="182880"/>
          </a:xfrm>
          <a:prstGeom prst="ellipse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30168" y="374904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Each layer: MatMul + Activate</a:t>
            </a:r>
          </a:p>
        </p:txBody>
      </p:sp>
      <p:sp>
        <p:nvSpPr>
          <p:cNvPr id="66" name="Oval 65"/>
          <p:cNvSpPr/>
          <p:nvPr/>
        </p:nvSpPr>
        <p:spPr>
          <a:xfrm>
            <a:off x="3355848" y="4379976"/>
            <a:ext cx="182880" cy="182880"/>
          </a:xfrm>
          <a:prstGeom prst="ellipse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30168" y="434340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Tensor transforms at every step</a:t>
            </a:r>
          </a:p>
        </p:txBody>
      </p:sp>
      <p:sp>
        <p:nvSpPr>
          <p:cNvPr id="68" name="Oval 67"/>
          <p:cNvSpPr/>
          <p:nvPr/>
        </p:nvSpPr>
        <p:spPr>
          <a:xfrm>
            <a:off x="3355848" y="4974336"/>
            <a:ext cx="182880" cy="182880"/>
          </a:xfrm>
          <a:prstGeom prst="ellipse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30168" y="493776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Output prediction produced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19272" y="5596128"/>
            <a:ext cx="2414016" cy="384048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319272" y="559612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A18"/>
                </a:solidFill>
              </a:rPr>
              <a:t>Inference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79592" y="28346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FFA0"/>
                </a:solidFill>
              </a:rPr>
              <a:t>&gt;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62472" y="1024128"/>
            <a:ext cx="2670048" cy="566928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317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062472" y="1024128"/>
            <a:ext cx="2670048" cy="43891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62472" y="1024128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PHASE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62472" y="1536192"/>
            <a:ext cx="26700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85CFF"/>
                </a:solidFill>
              </a:rPr>
              <a:t>BACKWARD
PASS</a:t>
            </a:r>
          </a:p>
        </p:txBody>
      </p:sp>
      <p:sp>
        <p:nvSpPr>
          <p:cNvPr id="77" name="Oval 76"/>
          <p:cNvSpPr/>
          <p:nvPr/>
        </p:nvSpPr>
        <p:spPr>
          <a:xfrm>
            <a:off x="7013448" y="2194560"/>
            <a:ext cx="768096" cy="768096"/>
          </a:xfrm>
          <a:prstGeom prst="ellipse">
            <a:avLst/>
          </a:prstGeom>
          <a:solidFill>
            <a:srgbClr val="180A38"/>
          </a:solidFill>
          <a:ln w="317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013448" y="2240280"/>
            <a:ext cx="7680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A85CFF"/>
                </a:solidFill>
              </a:rPr>
              <a:t>3</a:t>
            </a:r>
          </a:p>
        </p:txBody>
      </p:sp>
      <p:sp>
        <p:nvSpPr>
          <p:cNvPr id="79" name="Oval 78"/>
          <p:cNvSpPr/>
          <p:nvPr/>
        </p:nvSpPr>
        <p:spPr>
          <a:xfrm>
            <a:off x="6227064" y="3191256"/>
            <a:ext cx="182880" cy="18288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501384" y="315468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Loss = how wrong is prediction</a:t>
            </a:r>
          </a:p>
        </p:txBody>
      </p:sp>
      <p:sp>
        <p:nvSpPr>
          <p:cNvPr id="81" name="Oval 80"/>
          <p:cNvSpPr/>
          <p:nvPr/>
        </p:nvSpPr>
        <p:spPr>
          <a:xfrm>
            <a:off x="6227064" y="3785616"/>
            <a:ext cx="182880" cy="18288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01384" y="374904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Chain rule: compute all gradients</a:t>
            </a:r>
          </a:p>
        </p:txBody>
      </p:sp>
      <p:sp>
        <p:nvSpPr>
          <p:cNvPr id="83" name="Oval 82"/>
          <p:cNvSpPr/>
          <p:nvPr/>
        </p:nvSpPr>
        <p:spPr>
          <a:xfrm>
            <a:off x="6227064" y="4379976"/>
            <a:ext cx="182880" cy="18288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501384" y="434340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Gradient flows output -&gt; input</a:t>
            </a:r>
          </a:p>
        </p:txBody>
      </p:sp>
      <p:sp>
        <p:nvSpPr>
          <p:cNvPr id="85" name="Oval 84"/>
          <p:cNvSpPr/>
          <p:nvPr/>
        </p:nvSpPr>
        <p:spPr>
          <a:xfrm>
            <a:off x="6227064" y="4974336"/>
            <a:ext cx="182880" cy="18288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501384" y="493776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w &lt;- w - lr * gradient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90488" y="5596128"/>
            <a:ext cx="2414016" cy="38404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190488" y="559612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A18"/>
                </a:solidFill>
              </a:rPr>
              <a:t>Learning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50808" y="283464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A85CFF"/>
                </a:solidFill>
              </a:rPr>
              <a:t>&gt;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33688" y="1024128"/>
            <a:ext cx="2670048" cy="5669280"/>
          </a:xfrm>
          <a:prstGeom prst="roundRect">
            <a:avLst>
              <a:gd name="adj" fmla="val 4000"/>
            </a:avLst>
          </a:prstGeom>
          <a:solidFill>
            <a:srgbClr val="0B162C"/>
          </a:solidFill>
          <a:ln w="317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933688" y="1024128"/>
            <a:ext cx="2670048" cy="438912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933688" y="1024128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A18"/>
                </a:solidFill>
              </a:rPr>
              <a:t>PHASE 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33688" y="1536192"/>
            <a:ext cx="26700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722D"/>
                </a:solidFill>
              </a:rPr>
              <a:t>SCALE &amp;
DEPLOY</a:t>
            </a:r>
          </a:p>
        </p:txBody>
      </p:sp>
      <p:sp>
        <p:nvSpPr>
          <p:cNvPr id="94" name="Oval 93"/>
          <p:cNvSpPr/>
          <p:nvPr/>
        </p:nvSpPr>
        <p:spPr>
          <a:xfrm>
            <a:off x="9884664" y="2194560"/>
            <a:ext cx="768096" cy="768096"/>
          </a:xfrm>
          <a:prstGeom prst="ellipse">
            <a:avLst/>
          </a:prstGeom>
          <a:solidFill>
            <a:srgbClr val="321406"/>
          </a:solidFill>
          <a:ln w="31750">
            <a:solidFill>
              <a:srgbClr val="FF7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884664" y="2240280"/>
            <a:ext cx="7680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722D"/>
                </a:solidFill>
              </a:rPr>
              <a:t>4</a:t>
            </a:r>
          </a:p>
        </p:txBody>
      </p:sp>
      <p:sp>
        <p:nvSpPr>
          <p:cNvPr id="96" name="Oval 95"/>
          <p:cNvSpPr/>
          <p:nvPr/>
        </p:nvSpPr>
        <p:spPr>
          <a:xfrm>
            <a:off x="9098280" y="3191256"/>
            <a:ext cx="182880" cy="182880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72600" y="315468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GPU parallelises MatMuls</a:t>
            </a:r>
          </a:p>
        </p:txBody>
      </p:sp>
      <p:sp>
        <p:nvSpPr>
          <p:cNvPr id="98" name="Oval 97"/>
          <p:cNvSpPr/>
          <p:nvPr/>
        </p:nvSpPr>
        <p:spPr>
          <a:xfrm>
            <a:off x="9098280" y="3785616"/>
            <a:ext cx="182880" cy="182880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372600" y="374904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Train for 10-100 epochs</a:t>
            </a:r>
          </a:p>
        </p:txBody>
      </p:sp>
      <p:sp>
        <p:nvSpPr>
          <p:cNvPr id="100" name="Oval 99"/>
          <p:cNvSpPr/>
          <p:nvPr/>
        </p:nvSpPr>
        <p:spPr>
          <a:xfrm>
            <a:off x="9098280" y="4379976"/>
            <a:ext cx="182880" cy="182880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372600" y="434340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Validate on unseen test data</a:t>
            </a:r>
          </a:p>
        </p:txBody>
      </p:sp>
      <p:sp>
        <p:nvSpPr>
          <p:cNvPr id="102" name="Oval 101"/>
          <p:cNvSpPr/>
          <p:nvPr/>
        </p:nvSpPr>
        <p:spPr>
          <a:xfrm>
            <a:off x="9098280" y="4974336"/>
            <a:ext cx="182880" cy="182880"/>
          </a:xfrm>
          <a:prstGeom prst="ellipse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372600" y="493776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A"/>
                </a:solidFill>
              </a:rPr>
              <a:t>Deploy as API or product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61704" y="5596128"/>
            <a:ext cx="2414016" cy="384048"/>
          </a:xfrm>
          <a:prstGeom prst="rect">
            <a:avLst/>
          </a:prstGeom>
          <a:solidFill>
            <a:srgbClr val="FF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61704" y="559612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A18"/>
                </a:solidFill>
              </a:rPr>
              <a:t>Production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" y="6217920"/>
            <a:ext cx="11521440" cy="329184"/>
          </a:xfrm>
          <a:prstGeom prst="rect">
            <a:avLst/>
          </a:prstGeom>
          <a:solidFill>
            <a:srgbClr val="0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20040" y="621792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40A18"/>
                </a:solidFill>
              </a:rPr>
              <a:t>How Deep Neural Networks Work  |  Neurons &gt; Tensors &gt; Training &gt; Backprop &gt; Transformers &gt; Deploy  |  April 2026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Does the Network Learn?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= iteratively adjusting millions of weights so the network's predictions match the training labels.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347472" cy="34747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706624"/>
            <a:ext cx="2148840" cy="3383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2706624"/>
            <a:ext cx="214884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Forward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9544"/>
            <a:ext cx="1828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 tensor flows through every layer.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Prediction ŷ is produced at the output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4160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2286000"/>
            <a:ext cx="347472" cy="347472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24912" y="2286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24912" y="2706624"/>
            <a:ext cx="2148840" cy="3383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24912" y="2706624"/>
            <a:ext cx="2148840" cy="4572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7792" y="2816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Compute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3209544"/>
            <a:ext cx="1828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= measure of error (e.g. cross-entropy).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 = −Σ yᵢ log(ŷᵢ)   [single sample]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4160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8344" y="2286000"/>
            <a:ext cx="347472" cy="34747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38344" y="2286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8344" y="2706624"/>
            <a:ext cx="2148840" cy="3383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38344" y="2706624"/>
            <a:ext cx="2148840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21224" y="2816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Backward Pass
(Backprop)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3209544"/>
            <a:ext cx="1828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Chain rule computes ∂L/∂w for every weight.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Gradients flow from output → input layers.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4160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1776" y="2286000"/>
            <a:ext cx="347472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51776" y="2286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1776" y="2706624"/>
            <a:ext cx="2148840" cy="3383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51776" y="2706624"/>
            <a:ext cx="214884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34656" y="2816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Optimizer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3209544"/>
            <a:ext cx="1828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Update each weight:  w ← w − η · ∂L/∂w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Adam, SGD, RMSProp — different update rules.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160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65208" y="2286000"/>
            <a:ext cx="347472" cy="34747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65208" y="2286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65208" y="2706624"/>
            <a:ext cx="2148840" cy="3383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665208" y="2706624"/>
            <a:ext cx="2148840" cy="4572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48088" y="2816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7816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8088" y="3209544"/>
            <a:ext cx="1828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pass over the full dataset = 1 epoch.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Typically 10–100 epochs for convergence.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Gradient Descent Visualized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the loss as a hilly landscape. The network starts at a random point and takes small downhill steps — guided by the gradient — until it reaches a minimum.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2286000"/>
            <a:ext cx="27432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92240" y="228600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0" y="2395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Batch 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8892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Uses all samples.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Stable but slow per update.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45168" y="2286000"/>
            <a:ext cx="27432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345168" y="2286000"/>
            <a:ext cx="274320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28048" y="2395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Stochastic GD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278892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sample at a time.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Noisy but fast.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160519"/>
            <a:ext cx="27432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92240" y="4160519"/>
            <a:ext cx="2743200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5120" y="427024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Mini-batch GD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63439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Batch of 32–512.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of both worlds. Default.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45168" y="4160519"/>
            <a:ext cx="27432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345168" y="4160519"/>
            <a:ext cx="2743200" cy="4572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28048" y="427024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4663439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Adaptive per-weight lr.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 of the art for most tasks.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7512" y="5545653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86384" y="5339364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5256" y="5141854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24128" y="4953121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43000" y="4773168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261872" y="4601992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80744" y="4439594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99616" y="4285975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618488" y="4141134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737360" y="4005072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856232" y="3877787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75104" y="3759281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93976" y="3649553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12848" y="3548603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331720" y="3456432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450592" y="3373038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569464" y="3298423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688336" y="3232586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07208" y="3175528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926080" y="3127248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44952" y="3087745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163824" y="3057022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282696" y="3035076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401568" y="3021909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520440" y="3017520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639312" y="3021909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758184" y="3035076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877056" y="3057022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995927" y="3087745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114800" y="3127248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233672" y="3175528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352544" y="3232586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471416" y="3298423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590288" y="3373038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709160" y="3456432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828032" y="3548603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946904" y="3649553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065776" y="3759281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184648" y="3877787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303520" y="4005072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422392" y="4141134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541264" y="4285975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660136" y="4439594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779008" y="4601992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897880" y="4773168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016752" y="4953121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135624" y="5141854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254496" y="5339364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373368" y="5545653"/>
            <a:ext cx="128016" cy="128016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54380" y="5148072"/>
            <a:ext cx="201168" cy="20116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348740" y="4270248"/>
            <a:ext cx="201168" cy="20116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943100" y="3611880"/>
            <a:ext cx="201168" cy="20116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418588" y="3243193"/>
            <a:ext cx="201168" cy="20116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834640" y="3035808"/>
            <a:ext cx="201168" cy="20116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191256" y="2943636"/>
            <a:ext cx="201168" cy="20116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369564" y="2927177"/>
            <a:ext cx="201168" cy="20116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48640" y="63276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← gradient steps reaching the minimum 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5760720"/>
            <a:ext cx="5852160" cy="4572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40080" y="579729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  ←  w  −  η · ∂L/∂w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Different AI Models — Open vs Closed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Closed / Proprietary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5394960" cy="7132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864" cy="713232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GPT-4o / 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9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OpenAI — API only, no weights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5394960" cy="7132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54864" cy="713232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3.5/4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02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Anthropic — safety-focused, API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40"/>
            <a:ext cx="5394960" cy="7132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3977640"/>
            <a:ext cx="54864" cy="713232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Ultra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25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Google DeepMind — multimodal, API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5394960" cy="7132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54864" cy="713232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xAI — large reasoning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91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 Source / Weights Released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31720"/>
            <a:ext cx="54864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2331720"/>
            <a:ext cx="54864" cy="6400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3680" y="23682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Llama 3.1 / 3.3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426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Meta — 8B/70B/405B, Apache 2.0 license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081528"/>
            <a:ext cx="54864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0" y="3081528"/>
            <a:ext cx="54864" cy="6400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0" y="31181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Mistral / Mixtral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924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Mistral AI — MoE, Apache 2.0, very fast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31336"/>
            <a:ext cx="54864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0" y="3831336"/>
            <a:ext cx="54864" cy="6400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867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Gemma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422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Google — 1B–27B, research licence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581144"/>
            <a:ext cx="54864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00800" y="4581144"/>
            <a:ext cx="54864" cy="6400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83680" y="4617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Phi-4 / Phi-4-mini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8920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Microsoft — small but capable, MIT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330952"/>
            <a:ext cx="54864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00800" y="5330952"/>
            <a:ext cx="54864" cy="6400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83680" y="53675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DeepSeek-V3 / R1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6418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DeepSeek — strong reasoning, MIT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1645920"/>
            <a:ext cx="36576" cy="438912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 vs Claude vs Gemini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55648"/>
            <a:ext cx="3566160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35661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 (OpenAI)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58568"/>
            <a:ext cx="3246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1284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OpenAI (Microsoft-backed)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977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Architecture: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7977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GPT-4o, o1/o3 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Strengths: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4670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Coding, reasoning, plugin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91363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128K tokens (GPT-4o)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80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OpenAI Platform, Azure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47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Multimodal: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4748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Text, image, audio,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1441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Notable: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61441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ChatGPT — 180M+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1755648"/>
            <a:ext cx="3566160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60520" y="1755648"/>
            <a:ext cx="3566160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43400" y="18653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(Anthropic)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258568"/>
            <a:ext cx="3246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43400" y="22128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Creator: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21284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Anthropic (safety lab)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77977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Architecture: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77977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3.5/4 family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3467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Strengths: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34670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 context, safety,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91363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91363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200K tokens (Claude 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480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4805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Anthropic API, AWS Bedrock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047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Multimodal: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04748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Text, image, document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61441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Notable: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61441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Constitutional AI training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1755648"/>
            <a:ext cx="3566160" cy="4663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909560" y="1755648"/>
            <a:ext cx="356616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92440" y="18653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(Google)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2258568"/>
            <a:ext cx="3246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92440" y="22128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Creator: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21284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Google DeepMind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77977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Architecture: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77977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1.5 / 2.0 Ultra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33467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Strengths: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34670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Multimodal, long context, search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391363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91363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1M tokens (Gemini 1.5 Pro)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4480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4805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Google AI Studio, Vertex 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5047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Multimodal: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04748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Text, image, audio, video,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561441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Notable: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61441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Native 1M token window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GPT?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 = Generative Pre-trained Transformer. A family of large language models by OpenAI trained on internet-scale text to predict the next token.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91440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63040" y="2331720"/>
            <a:ext cx="960120" cy="512064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23160" y="2331720"/>
            <a:ext cx="909828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23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42316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117M params · Transformer decoder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35224"/>
            <a:ext cx="91440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63040" y="2935224"/>
            <a:ext cx="960120" cy="512064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23160" y="2935224"/>
            <a:ext cx="909828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02666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266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026664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1.5B params · 'Too dangerous to release' · Coherent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38728"/>
            <a:ext cx="91440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63040" y="3538728"/>
            <a:ext cx="960120" cy="512064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423160" y="3538728"/>
            <a:ext cx="909828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63016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301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630168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175B params · Few-shot learning · API released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42232"/>
            <a:ext cx="91440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463040" y="4142232"/>
            <a:ext cx="960120" cy="512064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423160" y="4142232"/>
            <a:ext cx="909828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423367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GPT-3.5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233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23367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InstructGPT / ChatGPT · RLHF fine-tuned · 100M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45736"/>
            <a:ext cx="91440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463040" y="4745736"/>
            <a:ext cx="960120" cy="512064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423160" y="4745736"/>
            <a:ext cx="909828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" y="483717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8371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837176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Multimodal · Vision · 128K context · Professional exams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49240"/>
            <a:ext cx="91440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463040" y="5349240"/>
            <a:ext cx="960120" cy="512064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423160" y="5349240"/>
            <a:ext cx="909828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44068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GPT-4o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440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544068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Omni: text+image+audio · Faster · Free tier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952744"/>
            <a:ext cx="91440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463040" y="5952744"/>
            <a:ext cx="960120" cy="512064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423160" y="5952744"/>
            <a:ext cx="909828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604418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o1 / o3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6044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2024+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6044184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Chain-of-thought reasoning · Strong math &amp; coding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ANTHROPIC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Claude?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is Anthropic's AI assistant — built from the ground up with safety as a core design principle using Constitutional AI (CAI) and RLHF.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6459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0" y="2286000"/>
            <a:ext cx="960120" cy="457200"/>
          </a:xfrm>
          <a:prstGeom prst="rect">
            <a:avLst/>
          </a:prstGeom>
          <a:solidFill>
            <a:srgbClr val="2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54680" y="2286000"/>
            <a:ext cx="84124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4572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35915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 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5915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Initial release · Long context pioneer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16459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94560" y="2816352"/>
            <a:ext cx="960120" cy="457200"/>
          </a:xfrm>
          <a:prstGeom prst="rect">
            <a:avLst/>
          </a:prstGeom>
          <a:solidFill>
            <a:srgbClr val="2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54680" y="2816352"/>
            <a:ext cx="84124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816352"/>
            <a:ext cx="4572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288950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288950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 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88950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100K context · Better code &amp;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46704"/>
            <a:ext cx="16459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94560" y="3346704"/>
            <a:ext cx="960120" cy="457200"/>
          </a:xfrm>
          <a:prstGeom prst="rect">
            <a:avLst/>
          </a:prstGeom>
          <a:solidFill>
            <a:srgbClr val="2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54680" y="3346704"/>
            <a:ext cx="84124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3346704"/>
            <a:ext cx="4572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341985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41985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 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41985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200K context · Reduced hallucinations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77056"/>
            <a:ext cx="16459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94560" y="3877056"/>
            <a:ext cx="960120" cy="457200"/>
          </a:xfrm>
          <a:prstGeom prst="rect">
            <a:avLst/>
          </a:prstGeom>
          <a:solidFill>
            <a:srgbClr val="2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154680" y="3877056"/>
            <a:ext cx="84124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877056"/>
            <a:ext cx="4572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3950208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3 Haiku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395020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2024 Q1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95020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Fastest/cheapest in Claude 3 family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07408"/>
            <a:ext cx="16459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94560" y="4407408"/>
            <a:ext cx="960120" cy="457200"/>
          </a:xfrm>
          <a:prstGeom prst="rect">
            <a:avLst/>
          </a:prstGeom>
          <a:solidFill>
            <a:srgbClr val="2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154680" y="4407408"/>
            <a:ext cx="84124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4407408"/>
            <a:ext cx="4572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448056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3 Sonnet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" y="44805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2024 Q1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448056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Balanced speed &amp; intelligence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16459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194560" y="4937760"/>
            <a:ext cx="960120" cy="457200"/>
          </a:xfrm>
          <a:prstGeom prst="rect">
            <a:avLst/>
          </a:prstGeom>
          <a:solidFill>
            <a:srgbClr val="2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154680" y="4937760"/>
            <a:ext cx="84124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4937760"/>
            <a:ext cx="4572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" y="501091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3 Opus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12848" y="50109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2024 Q1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501091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capable · Beats GPT-4 on benchmarks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468112"/>
            <a:ext cx="16459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194560" y="5468112"/>
            <a:ext cx="960120" cy="457200"/>
          </a:xfrm>
          <a:prstGeom prst="rect">
            <a:avLst/>
          </a:prstGeom>
          <a:solidFill>
            <a:srgbClr val="2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154680" y="5468112"/>
            <a:ext cx="84124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640" y="5468112"/>
            <a:ext cx="4572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0080" y="554126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3.5 Sonnet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12848" y="554126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2024 Q2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55412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State-of-the-art coding &amp; reasoning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998464"/>
            <a:ext cx="16459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194560" y="5998464"/>
            <a:ext cx="960120" cy="457200"/>
          </a:xfrm>
          <a:prstGeom prst="rect">
            <a:avLst/>
          </a:prstGeom>
          <a:solidFill>
            <a:srgbClr val="2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154680" y="5998464"/>
            <a:ext cx="84124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8640" y="5998464"/>
            <a:ext cx="4572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0080" y="607161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Claude 4 (Sonnet/Opus)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12848" y="60716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2025+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60716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Multi-modal · Extended thinking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GOOGLE DEEPMIND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Gemini?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is Google DeepMind's multimodal AI family — natively understanding text, images, audio, video, and code from the ground up (not bolted on).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73736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0" y="2331720"/>
            <a:ext cx="1005840" cy="512064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91840" y="2331720"/>
            <a:ext cx="832104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45720" cy="5120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1.0 Ultra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42316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2316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First to beat GPT-4 on MMLU · Multimodal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35224"/>
            <a:ext cx="173736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86000" y="2935224"/>
            <a:ext cx="1005840" cy="512064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0" y="2935224"/>
            <a:ext cx="832104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935224"/>
            <a:ext cx="45720" cy="5120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302666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1.0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302666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026664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 purpose · Powers Bard/Gemini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38728"/>
            <a:ext cx="173736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86000" y="3538728"/>
            <a:ext cx="1005840" cy="512064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3538728"/>
            <a:ext cx="832104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3538728"/>
            <a:ext cx="45720" cy="5120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363016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1.5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630168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Feb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630168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MILLION token context · Video understanding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42232"/>
            <a:ext cx="173736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0" y="4142232"/>
            <a:ext cx="1005840" cy="512064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91840" y="4142232"/>
            <a:ext cx="832104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142232"/>
            <a:ext cx="45720" cy="5120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42336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1.5 Flash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423367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23367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 &amp; cheap · 1M context retained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45736"/>
            <a:ext cx="173736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286000" y="4745736"/>
            <a:ext cx="1005840" cy="512064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91840" y="4745736"/>
            <a:ext cx="832104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4745736"/>
            <a:ext cx="45720" cy="5120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483717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2.0 Flash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4837176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837176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Real-time streaming · Agentic capabilities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9240"/>
            <a:ext cx="173736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286000" y="5349240"/>
            <a:ext cx="1005840" cy="512064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91840" y="5349240"/>
            <a:ext cx="8321040" cy="51206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5349240"/>
            <a:ext cx="45720" cy="5120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" y="544068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Gemini 2.0 Ultra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04288" y="54406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44068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State-of-the-art reasoning &amp; science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AI-POWERED 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106424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Windsurf?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Windsurf (by Codeium) is an AI-native IDE — a full code editor built around an AI agent called Cascade that understands your entire codebase, not just the open file.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395728"/>
            <a:ext cx="352044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2395728"/>
            <a:ext cx="352044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Cascade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Agentic AI that plans multi-step tasks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Reads/writes files, runs terminal commands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Context-aware across the whole repo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395728"/>
            <a:ext cx="352044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0" y="2395728"/>
            <a:ext cx="352044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7680" y="2505456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Deep Context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9864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Indexes your entire codebase locally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Understands imports, call graphs,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Faster &amp; more accurate completions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395728"/>
            <a:ext cx="352044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18120" y="2395728"/>
            <a:ext cx="3520440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1000" y="2505456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 Autocomplete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89864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Multi-line, context-aware completions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Faster than GitHub Copilot (local index)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Free tier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80559"/>
            <a:ext cx="352044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1480" y="4480559"/>
            <a:ext cx="3520440" cy="4572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4590287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Chat + Inline 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79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Ask questions about your 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Inline diffs — accept / reject hunks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Explain, refactor, document,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480559"/>
            <a:ext cx="352044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14800" y="4480559"/>
            <a:ext cx="3520440" cy="4572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97680" y="4590287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7816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Agnostic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Powered by Claude, GPT-4o, or Gemini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Switch model per task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Enterprise on-prem option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4480559"/>
            <a:ext cx="352044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818120" y="4480559"/>
            <a:ext cx="352044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01000" y="4590287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vs. VS Code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983479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IDE vs extension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Deeper repo context awareness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Free tier is more generous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457200" cy="3429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51560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54864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Neurons:  A weighted sum + activation — the atomic unit of intelligence.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447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Neurons: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02536"/>
            <a:ext cx="54864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Tensors:  n-D arrays carrying data; all AI math is tensor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15184"/>
            <a:ext cx="54864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26700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TensorFlow:  Framework that turns Python into GPU-accelerated tensor graphs.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70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TensorFlow: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27832"/>
            <a:ext cx="54864" cy="4572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3282696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CUDA:  NVIDIA's platform giving thousands of GPU cores to your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826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CUDA: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54864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38953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Training:  Forward → loss → backprop → gradient descent. Repeat until converged.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953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Training: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53128"/>
            <a:ext cx="54864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450799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Transformers:  Attention + scale = emergent reasoning. Foundation of all modern LLMs.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079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Transformers: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65776"/>
            <a:ext cx="54864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51206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Models:  GPT (OpenAI), Claude (Anthropic), Gemini (Google) — each with unique strengths.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678424"/>
            <a:ext cx="54864" cy="4572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" y="57332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Windsurf:  AI-native IDE — Cascade agent with whole-repo context.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7332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Windsurf: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9729</Words>
  <Application>Microsoft Office PowerPoint</Application>
  <PresentationFormat>Custom</PresentationFormat>
  <Paragraphs>1743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 Thotakura</dc:creator>
  <cp:keywords/>
  <dc:description>generated using python-pptx</dc:description>
  <cp:lastModifiedBy>Sri Thotakura</cp:lastModifiedBy>
  <cp:revision>3</cp:revision>
  <dcterms:created xsi:type="dcterms:W3CDTF">2013-01-27T09:14:16Z</dcterms:created>
  <dcterms:modified xsi:type="dcterms:W3CDTF">2026-04-14T12:38:25Z</dcterms:modified>
  <cp:category/>
</cp:coreProperties>
</file>